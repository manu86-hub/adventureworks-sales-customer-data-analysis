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85" r:id="rId5"/>
    <p:sldId id="259" r:id="rId6"/>
    <p:sldId id="291" r:id="rId7"/>
    <p:sldId id="284" r:id="rId8"/>
    <p:sldId id="286" r:id="rId9"/>
    <p:sldId id="287" r:id="rId10"/>
    <p:sldId id="288" r:id="rId11"/>
    <p:sldId id="289" r:id="rId12"/>
    <p:sldId id="290" r:id="rId13"/>
    <p:sldId id="271" r:id="rId1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7" d="100"/>
          <a:sy n="47" d="100"/>
        </p:scale>
        <p:origin x="50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3122C8-A723-4F74-B791-F8C502CB3635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D6DFB0F-B428-4890-B2AD-20698B166ECC}">
      <dgm:prSet phldrT="[Text]" phldr="0"/>
      <dgm:spPr/>
      <dgm:t>
        <a:bodyPr/>
        <a:lstStyle/>
        <a:p>
          <a:r>
            <a:rPr lang="en-US" dirty="0"/>
            <a:t>Create The Visuals</a:t>
          </a:r>
          <a:endParaRPr lang="en-IN" dirty="0"/>
        </a:p>
      </dgm:t>
    </dgm:pt>
    <dgm:pt modelId="{5D78A20B-4851-4A68-8647-EF4CCDB3F88F}" type="parTrans" cxnId="{50B43BB7-525C-47AD-A451-942B49BCE0A1}">
      <dgm:prSet/>
      <dgm:spPr/>
      <dgm:t>
        <a:bodyPr/>
        <a:lstStyle/>
        <a:p>
          <a:endParaRPr lang="en-IN"/>
        </a:p>
      </dgm:t>
    </dgm:pt>
    <dgm:pt modelId="{9AC5FA93-B52A-4BBC-846F-B0EB1D668A8B}" type="sibTrans" cxnId="{50B43BB7-525C-47AD-A451-942B49BCE0A1}">
      <dgm:prSet/>
      <dgm:spPr/>
      <dgm:t>
        <a:bodyPr/>
        <a:lstStyle/>
        <a:p>
          <a:endParaRPr lang="en-IN"/>
        </a:p>
      </dgm:t>
    </dgm:pt>
    <dgm:pt modelId="{937D9C45-1EE3-460D-8A6A-D844AEEC2BA6}">
      <dgm:prSet phldrT="[Text]" phldr="0"/>
      <dgm:spPr/>
      <dgm:t>
        <a:bodyPr/>
        <a:lstStyle/>
        <a:p>
          <a:r>
            <a:rPr lang="en-US" dirty="0"/>
            <a:t>Create Dashboard</a:t>
          </a:r>
          <a:endParaRPr lang="en-IN" dirty="0"/>
        </a:p>
      </dgm:t>
    </dgm:pt>
    <dgm:pt modelId="{6AEF3E85-8478-48D7-937B-A8CFB99E0342}" type="parTrans" cxnId="{6B5FB361-D550-4826-B0B7-3478D4608609}">
      <dgm:prSet/>
      <dgm:spPr/>
      <dgm:t>
        <a:bodyPr/>
        <a:lstStyle/>
        <a:p>
          <a:endParaRPr lang="en-IN"/>
        </a:p>
      </dgm:t>
    </dgm:pt>
    <dgm:pt modelId="{E444AFDD-DCDF-45CF-AE36-74F7D23A7D01}" type="sibTrans" cxnId="{6B5FB361-D550-4826-B0B7-3478D4608609}">
      <dgm:prSet/>
      <dgm:spPr/>
      <dgm:t>
        <a:bodyPr/>
        <a:lstStyle/>
        <a:p>
          <a:endParaRPr lang="en-IN"/>
        </a:p>
      </dgm:t>
    </dgm:pt>
    <dgm:pt modelId="{A2B0E28E-E347-4EAF-BD8E-236D1A503B1B}">
      <dgm:prSet phldrT="[Text]" phldr="0" custT="1"/>
      <dgm:spPr/>
      <dgm:t>
        <a:bodyPr/>
        <a:lstStyle/>
        <a:p>
          <a:r>
            <a:rPr lang="en-US" sz="36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Clean The Data</a:t>
          </a:r>
          <a:endParaRPr lang="en-IN" sz="3600" kern="1200" dirty="0">
            <a:solidFill>
              <a:prstClr val="white"/>
            </a:solidFill>
            <a:latin typeface="Calibri"/>
            <a:ea typeface="+mn-ea"/>
            <a:cs typeface="+mn-cs"/>
          </a:endParaRPr>
        </a:p>
      </dgm:t>
    </dgm:pt>
    <dgm:pt modelId="{45CBC9E8-0434-4789-9E3F-F881B9F6C3B9}" type="sibTrans" cxnId="{9D7BF8F6-9A8B-4DF4-86DD-8F5D0B158AA7}">
      <dgm:prSet/>
      <dgm:spPr/>
      <dgm:t>
        <a:bodyPr/>
        <a:lstStyle/>
        <a:p>
          <a:endParaRPr lang="en-IN"/>
        </a:p>
      </dgm:t>
    </dgm:pt>
    <dgm:pt modelId="{43837A7D-0503-49E9-A2F6-33233A1C3B6A}" type="parTrans" cxnId="{9D7BF8F6-9A8B-4DF4-86DD-8F5D0B158AA7}">
      <dgm:prSet/>
      <dgm:spPr/>
      <dgm:t>
        <a:bodyPr/>
        <a:lstStyle/>
        <a:p>
          <a:endParaRPr lang="en-IN"/>
        </a:p>
      </dgm:t>
    </dgm:pt>
    <dgm:pt modelId="{8123F8E3-9D81-4195-8395-D9A069B5BEEB}" type="pres">
      <dgm:prSet presAssocID="{713122C8-A723-4F74-B791-F8C502CB3635}" presName="Name0" presStyleCnt="0">
        <dgm:presLayoutVars>
          <dgm:dir/>
          <dgm:animLvl val="lvl"/>
          <dgm:resizeHandles val="exact"/>
        </dgm:presLayoutVars>
      </dgm:prSet>
      <dgm:spPr/>
    </dgm:pt>
    <dgm:pt modelId="{BDAA0D45-C42A-4ABD-BE0A-1C9CAE7C2FCE}" type="pres">
      <dgm:prSet presAssocID="{937D9C45-1EE3-460D-8A6A-D844AEEC2BA6}" presName="boxAndChildren" presStyleCnt="0"/>
      <dgm:spPr/>
    </dgm:pt>
    <dgm:pt modelId="{909F21AB-04D4-4887-B31F-97B9E38C570C}" type="pres">
      <dgm:prSet presAssocID="{937D9C45-1EE3-460D-8A6A-D844AEEC2BA6}" presName="parentTextBox" presStyleLbl="node1" presStyleIdx="0" presStyleCnt="3"/>
      <dgm:spPr/>
    </dgm:pt>
    <dgm:pt modelId="{10A9A7D6-BE59-4248-9ECD-BD653551DB8B}" type="pres">
      <dgm:prSet presAssocID="{9AC5FA93-B52A-4BBC-846F-B0EB1D668A8B}" presName="sp" presStyleCnt="0"/>
      <dgm:spPr/>
    </dgm:pt>
    <dgm:pt modelId="{EC15564E-17FD-490E-8676-B415582B03CA}" type="pres">
      <dgm:prSet presAssocID="{ED6DFB0F-B428-4890-B2AD-20698B166ECC}" presName="arrowAndChildren" presStyleCnt="0"/>
      <dgm:spPr/>
    </dgm:pt>
    <dgm:pt modelId="{0C150A8F-C1B0-44F4-9327-E4F4A13DFBB4}" type="pres">
      <dgm:prSet presAssocID="{ED6DFB0F-B428-4890-B2AD-20698B166ECC}" presName="parentTextArrow" presStyleLbl="node1" presStyleIdx="1" presStyleCnt="3"/>
      <dgm:spPr/>
    </dgm:pt>
    <dgm:pt modelId="{165CE0C0-C3E2-4E59-88E0-E6B507E51D40}" type="pres">
      <dgm:prSet presAssocID="{45CBC9E8-0434-4789-9E3F-F881B9F6C3B9}" presName="sp" presStyleCnt="0"/>
      <dgm:spPr/>
    </dgm:pt>
    <dgm:pt modelId="{DF6D37F9-B636-4FAF-97F2-6EC53065884B}" type="pres">
      <dgm:prSet presAssocID="{A2B0E28E-E347-4EAF-BD8E-236D1A503B1B}" presName="arrowAndChildren" presStyleCnt="0"/>
      <dgm:spPr/>
    </dgm:pt>
    <dgm:pt modelId="{BB8F06BB-BE8D-4EB2-BA76-2CBEA85AADBB}" type="pres">
      <dgm:prSet presAssocID="{A2B0E28E-E347-4EAF-BD8E-236D1A503B1B}" presName="parentTextArrow" presStyleLbl="node1" presStyleIdx="2" presStyleCnt="3" custLinFactNeighborX="694" custLinFactNeighborY="-97514"/>
      <dgm:spPr/>
    </dgm:pt>
  </dgm:ptLst>
  <dgm:cxnLst>
    <dgm:cxn modelId="{99465505-8B3B-4A53-9FCC-132D7571F37E}" type="presOf" srcId="{713122C8-A723-4F74-B791-F8C502CB3635}" destId="{8123F8E3-9D81-4195-8395-D9A069B5BEEB}" srcOrd="0" destOrd="0" presId="urn:microsoft.com/office/officeart/2005/8/layout/process4"/>
    <dgm:cxn modelId="{E153C62F-4556-406A-9695-3AD2A0D7F3F1}" type="presOf" srcId="{937D9C45-1EE3-460D-8A6A-D844AEEC2BA6}" destId="{909F21AB-04D4-4887-B31F-97B9E38C570C}" srcOrd="0" destOrd="0" presId="urn:microsoft.com/office/officeart/2005/8/layout/process4"/>
    <dgm:cxn modelId="{6B5FB361-D550-4826-B0B7-3478D4608609}" srcId="{713122C8-A723-4F74-B791-F8C502CB3635}" destId="{937D9C45-1EE3-460D-8A6A-D844AEEC2BA6}" srcOrd="2" destOrd="0" parTransId="{6AEF3E85-8478-48D7-937B-A8CFB99E0342}" sibTransId="{E444AFDD-DCDF-45CF-AE36-74F7D23A7D01}"/>
    <dgm:cxn modelId="{11043362-90C3-4414-970E-749590C4A1F7}" type="presOf" srcId="{ED6DFB0F-B428-4890-B2AD-20698B166ECC}" destId="{0C150A8F-C1B0-44F4-9327-E4F4A13DFBB4}" srcOrd="0" destOrd="0" presId="urn:microsoft.com/office/officeart/2005/8/layout/process4"/>
    <dgm:cxn modelId="{9DF68CB5-5F42-4A2B-B807-B721FD6C9C79}" type="presOf" srcId="{A2B0E28E-E347-4EAF-BD8E-236D1A503B1B}" destId="{BB8F06BB-BE8D-4EB2-BA76-2CBEA85AADBB}" srcOrd="0" destOrd="0" presId="urn:microsoft.com/office/officeart/2005/8/layout/process4"/>
    <dgm:cxn modelId="{50B43BB7-525C-47AD-A451-942B49BCE0A1}" srcId="{713122C8-A723-4F74-B791-F8C502CB3635}" destId="{ED6DFB0F-B428-4890-B2AD-20698B166ECC}" srcOrd="1" destOrd="0" parTransId="{5D78A20B-4851-4A68-8647-EF4CCDB3F88F}" sibTransId="{9AC5FA93-B52A-4BBC-846F-B0EB1D668A8B}"/>
    <dgm:cxn modelId="{9D7BF8F6-9A8B-4DF4-86DD-8F5D0B158AA7}" srcId="{713122C8-A723-4F74-B791-F8C502CB3635}" destId="{A2B0E28E-E347-4EAF-BD8E-236D1A503B1B}" srcOrd="0" destOrd="0" parTransId="{43837A7D-0503-49E9-A2F6-33233A1C3B6A}" sibTransId="{45CBC9E8-0434-4789-9E3F-F881B9F6C3B9}"/>
    <dgm:cxn modelId="{6345DB0C-151C-44D8-BABE-0C69DC3BAC90}" type="presParOf" srcId="{8123F8E3-9D81-4195-8395-D9A069B5BEEB}" destId="{BDAA0D45-C42A-4ABD-BE0A-1C9CAE7C2FCE}" srcOrd="0" destOrd="0" presId="urn:microsoft.com/office/officeart/2005/8/layout/process4"/>
    <dgm:cxn modelId="{01E4E94E-E2C2-4B6A-88AF-F075B179CEF3}" type="presParOf" srcId="{BDAA0D45-C42A-4ABD-BE0A-1C9CAE7C2FCE}" destId="{909F21AB-04D4-4887-B31F-97B9E38C570C}" srcOrd="0" destOrd="0" presId="urn:microsoft.com/office/officeart/2005/8/layout/process4"/>
    <dgm:cxn modelId="{621A7EA9-E01A-42F9-9707-0E837CCB1D1F}" type="presParOf" srcId="{8123F8E3-9D81-4195-8395-D9A069B5BEEB}" destId="{10A9A7D6-BE59-4248-9ECD-BD653551DB8B}" srcOrd="1" destOrd="0" presId="urn:microsoft.com/office/officeart/2005/8/layout/process4"/>
    <dgm:cxn modelId="{1506AD9C-9D0B-4048-A0DC-4D38A9FF53DC}" type="presParOf" srcId="{8123F8E3-9D81-4195-8395-D9A069B5BEEB}" destId="{EC15564E-17FD-490E-8676-B415582B03CA}" srcOrd="2" destOrd="0" presId="urn:microsoft.com/office/officeart/2005/8/layout/process4"/>
    <dgm:cxn modelId="{77AE4FD0-2008-4EBF-887B-86C633AFA011}" type="presParOf" srcId="{EC15564E-17FD-490E-8676-B415582B03CA}" destId="{0C150A8F-C1B0-44F4-9327-E4F4A13DFBB4}" srcOrd="0" destOrd="0" presId="urn:microsoft.com/office/officeart/2005/8/layout/process4"/>
    <dgm:cxn modelId="{3C28D415-478C-42F0-B9FD-06683D30B690}" type="presParOf" srcId="{8123F8E3-9D81-4195-8395-D9A069B5BEEB}" destId="{165CE0C0-C3E2-4E59-88E0-E6B507E51D40}" srcOrd="3" destOrd="0" presId="urn:microsoft.com/office/officeart/2005/8/layout/process4"/>
    <dgm:cxn modelId="{116883D8-2897-4D71-97E3-30E7959953F8}" type="presParOf" srcId="{8123F8E3-9D81-4195-8395-D9A069B5BEEB}" destId="{DF6D37F9-B636-4FAF-97F2-6EC53065884B}" srcOrd="4" destOrd="0" presId="urn:microsoft.com/office/officeart/2005/8/layout/process4"/>
    <dgm:cxn modelId="{C72E3F26-A90C-43E7-A7D0-408C5A149DA7}" type="presParOf" srcId="{DF6D37F9-B636-4FAF-97F2-6EC53065884B}" destId="{BB8F06BB-BE8D-4EB2-BA76-2CBEA85AADBB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9F21AB-04D4-4887-B31F-97B9E38C570C}">
      <dsp:nvSpPr>
        <dsp:cNvPr id="0" name=""/>
        <dsp:cNvSpPr/>
      </dsp:nvSpPr>
      <dsp:spPr>
        <a:xfrm>
          <a:off x="0" y="3097427"/>
          <a:ext cx="10972800" cy="10166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Create Dashboard</a:t>
          </a:r>
          <a:endParaRPr lang="en-IN" sz="3600" kern="1200" dirty="0"/>
        </a:p>
      </dsp:txBody>
      <dsp:txXfrm>
        <a:off x="0" y="3097427"/>
        <a:ext cx="10972800" cy="1016644"/>
      </dsp:txXfrm>
    </dsp:sp>
    <dsp:sp modelId="{0C150A8F-C1B0-44F4-9327-E4F4A13DFBB4}">
      <dsp:nvSpPr>
        <dsp:cNvPr id="0" name=""/>
        <dsp:cNvSpPr/>
      </dsp:nvSpPr>
      <dsp:spPr>
        <a:xfrm rot="10800000">
          <a:off x="0" y="1549077"/>
          <a:ext cx="10972800" cy="156359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Create The Visuals</a:t>
          </a:r>
          <a:endParaRPr lang="en-IN" sz="3600" kern="1200" dirty="0"/>
        </a:p>
      </dsp:txBody>
      <dsp:txXfrm rot="10800000">
        <a:off x="0" y="1549077"/>
        <a:ext cx="10972800" cy="1015980"/>
      </dsp:txXfrm>
    </dsp:sp>
    <dsp:sp modelId="{BB8F06BB-BE8D-4EB2-BA76-2CBEA85AADBB}">
      <dsp:nvSpPr>
        <dsp:cNvPr id="0" name=""/>
        <dsp:cNvSpPr/>
      </dsp:nvSpPr>
      <dsp:spPr>
        <a:xfrm rot="10800000">
          <a:off x="0" y="0"/>
          <a:ext cx="10972800" cy="156359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>
              <a:solidFill>
                <a:prstClr val="white"/>
              </a:solidFill>
              <a:latin typeface="Calibri"/>
              <a:ea typeface="+mn-ea"/>
              <a:cs typeface="+mn-cs"/>
            </a:rPr>
            <a:t>Clean The Data</a:t>
          </a:r>
          <a:endParaRPr lang="en-IN" sz="3600" kern="1200" dirty="0">
            <a:solidFill>
              <a:prstClr val="white"/>
            </a:solidFill>
            <a:latin typeface="Calibri"/>
            <a:ea typeface="+mn-ea"/>
            <a:cs typeface="+mn-cs"/>
          </a:endParaRPr>
        </a:p>
      </dsp:txBody>
      <dsp:txXfrm rot="10800000">
        <a:off x="0" y="0"/>
        <a:ext cx="10972800" cy="10159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50" b="0" i="0">
                <a:solidFill>
                  <a:srgbClr val="FFD01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50" b="0" i="0">
                <a:solidFill>
                  <a:srgbClr val="FFD01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5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2206536" y="2602407"/>
            <a:ext cx="13875385" cy="7195184"/>
          </a:xfrm>
          <a:custGeom>
            <a:avLst/>
            <a:gdLst/>
            <a:ahLst/>
            <a:cxnLst/>
            <a:rect l="l" t="t" r="r" b="b"/>
            <a:pathLst>
              <a:path w="13875385" h="7195184">
                <a:moveTo>
                  <a:pt x="6819290" y="4266616"/>
                </a:moveTo>
                <a:lnTo>
                  <a:pt x="6816801" y="4217314"/>
                </a:lnTo>
                <a:lnTo>
                  <a:pt x="6809499" y="4169435"/>
                </a:lnTo>
                <a:lnTo>
                  <a:pt x="6797611" y="4123220"/>
                </a:lnTo>
                <a:lnTo>
                  <a:pt x="6781406" y="4078922"/>
                </a:lnTo>
                <a:lnTo>
                  <a:pt x="6761099" y="4036771"/>
                </a:lnTo>
                <a:lnTo>
                  <a:pt x="6736943" y="3997007"/>
                </a:lnTo>
                <a:lnTo>
                  <a:pt x="6709181" y="3959885"/>
                </a:lnTo>
                <a:lnTo>
                  <a:pt x="6678066" y="3925646"/>
                </a:lnTo>
                <a:lnTo>
                  <a:pt x="6643814" y="3894518"/>
                </a:lnTo>
                <a:lnTo>
                  <a:pt x="6606692" y="3866769"/>
                </a:lnTo>
                <a:lnTo>
                  <a:pt x="6566941" y="3842613"/>
                </a:lnTo>
                <a:lnTo>
                  <a:pt x="6524790" y="3822306"/>
                </a:lnTo>
                <a:lnTo>
                  <a:pt x="6480480" y="3806088"/>
                </a:lnTo>
                <a:lnTo>
                  <a:pt x="6434277" y="3794201"/>
                </a:lnTo>
                <a:lnTo>
                  <a:pt x="6386398" y="3786898"/>
                </a:lnTo>
                <a:lnTo>
                  <a:pt x="6337097" y="3784409"/>
                </a:lnTo>
                <a:lnTo>
                  <a:pt x="482206" y="3784409"/>
                </a:lnTo>
                <a:lnTo>
                  <a:pt x="432892" y="3786898"/>
                </a:lnTo>
                <a:lnTo>
                  <a:pt x="385025" y="3794201"/>
                </a:lnTo>
                <a:lnTo>
                  <a:pt x="338810" y="3806088"/>
                </a:lnTo>
                <a:lnTo>
                  <a:pt x="294500" y="3822306"/>
                </a:lnTo>
                <a:lnTo>
                  <a:pt x="252349" y="3842613"/>
                </a:lnTo>
                <a:lnTo>
                  <a:pt x="212598" y="3866769"/>
                </a:lnTo>
                <a:lnTo>
                  <a:pt x="175475" y="3894518"/>
                </a:lnTo>
                <a:lnTo>
                  <a:pt x="141236" y="3925646"/>
                </a:lnTo>
                <a:lnTo>
                  <a:pt x="110109" y="3959885"/>
                </a:lnTo>
                <a:lnTo>
                  <a:pt x="82346" y="3997007"/>
                </a:lnTo>
                <a:lnTo>
                  <a:pt x="58191" y="4036771"/>
                </a:lnTo>
                <a:lnTo>
                  <a:pt x="37896" y="4078922"/>
                </a:lnTo>
                <a:lnTo>
                  <a:pt x="21678" y="4123220"/>
                </a:lnTo>
                <a:lnTo>
                  <a:pt x="9791" y="4169435"/>
                </a:lnTo>
                <a:lnTo>
                  <a:pt x="2489" y="4217314"/>
                </a:lnTo>
                <a:lnTo>
                  <a:pt x="0" y="4266616"/>
                </a:lnTo>
                <a:lnTo>
                  <a:pt x="0" y="6712585"/>
                </a:lnTo>
                <a:lnTo>
                  <a:pt x="2489" y="6761886"/>
                </a:lnTo>
                <a:lnTo>
                  <a:pt x="9791" y="6809765"/>
                </a:lnTo>
                <a:lnTo>
                  <a:pt x="21678" y="6855981"/>
                </a:lnTo>
                <a:lnTo>
                  <a:pt x="37896" y="6900278"/>
                </a:lnTo>
                <a:lnTo>
                  <a:pt x="58191" y="6942429"/>
                </a:lnTo>
                <a:lnTo>
                  <a:pt x="82346" y="6982193"/>
                </a:lnTo>
                <a:lnTo>
                  <a:pt x="110109" y="7019315"/>
                </a:lnTo>
                <a:lnTo>
                  <a:pt x="141236" y="7053554"/>
                </a:lnTo>
                <a:lnTo>
                  <a:pt x="175475" y="7084682"/>
                </a:lnTo>
                <a:lnTo>
                  <a:pt x="212598" y="7112432"/>
                </a:lnTo>
                <a:lnTo>
                  <a:pt x="252349" y="7136587"/>
                </a:lnTo>
                <a:lnTo>
                  <a:pt x="294500" y="7156894"/>
                </a:lnTo>
                <a:lnTo>
                  <a:pt x="338810" y="7173112"/>
                </a:lnTo>
                <a:lnTo>
                  <a:pt x="385025" y="7184999"/>
                </a:lnTo>
                <a:lnTo>
                  <a:pt x="432892" y="7192302"/>
                </a:lnTo>
                <a:lnTo>
                  <a:pt x="482180" y="7194791"/>
                </a:lnTo>
                <a:lnTo>
                  <a:pt x="6337109" y="7194791"/>
                </a:lnTo>
                <a:lnTo>
                  <a:pt x="6386398" y="7192302"/>
                </a:lnTo>
                <a:lnTo>
                  <a:pt x="6434277" y="7184999"/>
                </a:lnTo>
                <a:lnTo>
                  <a:pt x="6480480" y="7173112"/>
                </a:lnTo>
                <a:lnTo>
                  <a:pt x="6524790" y="7156894"/>
                </a:lnTo>
                <a:lnTo>
                  <a:pt x="6566941" y="7136587"/>
                </a:lnTo>
                <a:lnTo>
                  <a:pt x="6606692" y="7112432"/>
                </a:lnTo>
                <a:lnTo>
                  <a:pt x="6643814" y="7084682"/>
                </a:lnTo>
                <a:lnTo>
                  <a:pt x="6678066" y="7053554"/>
                </a:lnTo>
                <a:lnTo>
                  <a:pt x="6709181" y="7019315"/>
                </a:lnTo>
                <a:lnTo>
                  <a:pt x="6736943" y="6982193"/>
                </a:lnTo>
                <a:lnTo>
                  <a:pt x="6761099" y="6942429"/>
                </a:lnTo>
                <a:lnTo>
                  <a:pt x="6781406" y="6900278"/>
                </a:lnTo>
                <a:lnTo>
                  <a:pt x="6797611" y="6855981"/>
                </a:lnTo>
                <a:lnTo>
                  <a:pt x="6809499" y="6809765"/>
                </a:lnTo>
                <a:lnTo>
                  <a:pt x="6816801" y="6761886"/>
                </a:lnTo>
                <a:lnTo>
                  <a:pt x="6819290" y="6712585"/>
                </a:lnTo>
                <a:lnTo>
                  <a:pt x="6819290" y="4266616"/>
                </a:lnTo>
                <a:close/>
              </a:path>
              <a:path w="13875385" h="7195184">
                <a:moveTo>
                  <a:pt x="13874915" y="482206"/>
                </a:moveTo>
                <a:lnTo>
                  <a:pt x="13872426" y="432904"/>
                </a:lnTo>
                <a:lnTo>
                  <a:pt x="13865124" y="385025"/>
                </a:lnTo>
                <a:lnTo>
                  <a:pt x="13853236" y="338810"/>
                </a:lnTo>
                <a:lnTo>
                  <a:pt x="13837018" y="294513"/>
                </a:lnTo>
                <a:lnTo>
                  <a:pt x="13816711" y="252361"/>
                </a:lnTo>
                <a:lnTo>
                  <a:pt x="13792568" y="212598"/>
                </a:lnTo>
                <a:lnTo>
                  <a:pt x="13764806" y="175488"/>
                </a:lnTo>
                <a:lnTo>
                  <a:pt x="13733679" y="141236"/>
                </a:lnTo>
                <a:lnTo>
                  <a:pt x="13699439" y="110121"/>
                </a:lnTo>
                <a:lnTo>
                  <a:pt x="13662317" y="82359"/>
                </a:lnTo>
                <a:lnTo>
                  <a:pt x="13622554" y="58204"/>
                </a:lnTo>
                <a:lnTo>
                  <a:pt x="13580402" y="37896"/>
                </a:lnTo>
                <a:lnTo>
                  <a:pt x="13536105" y="21678"/>
                </a:lnTo>
                <a:lnTo>
                  <a:pt x="13489889" y="9804"/>
                </a:lnTo>
                <a:lnTo>
                  <a:pt x="13442010" y="2489"/>
                </a:lnTo>
                <a:lnTo>
                  <a:pt x="13392709" y="0"/>
                </a:lnTo>
                <a:lnTo>
                  <a:pt x="7537818" y="0"/>
                </a:lnTo>
                <a:lnTo>
                  <a:pt x="7488517" y="2489"/>
                </a:lnTo>
                <a:lnTo>
                  <a:pt x="7440638" y="9804"/>
                </a:lnTo>
                <a:lnTo>
                  <a:pt x="7394435" y="21678"/>
                </a:lnTo>
                <a:lnTo>
                  <a:pt x="7350125" y="37896"/>
                </a:lnTo>
                <a:lnTo>
                  <a:pt x="7307974" y="58204"/>
                </a:lnTo>
                <a:lnTo>
                  <a:pt x="7268223" y="82359"/>
                </a:lnTo>
                <a:lnTo>
                  <a:pt x="7231100" y="110121"/>
                </a:lnTo>
                <a:lnTo>
                  <a:pt x="7196849" y="141236"/>
                </a:lnTo>
                <a:lnTo>
                  <a:pt x="7165734" y="175488"/>
                </a:lnTo>
                <a:lnTo>
                  <a:pt x="7137971" y="212598"/>
                </a:lnTo>
                <a:lnTo>
                  <a:pt x="7113816" y="252361"/>
                </a:lnTo>
                <a:lnTo>
                  <a:pt x="7093509" y="294513"/>
                </a:lnTo>
                <a:lnTo>
                  <a:pt x="7077303" y="338810"/>
                </a:lnTo>
                <a:lnTo>
                  <a:pt x="7065416" y="385025"/>
                </a:lnTo>
                <a:lnTo>
                  <a:pt x="7058114" y="432904"/>
                </a:lnTo>
                <a:lnTo>
                  <a:pt x="7055625" y="482206"/>
                </a:lnTo>
                <a:lnTo>
                  <a:pt x="7055625" y="3009887"/>
                </a:lnTo>
                <a:lnTo>
                  <a:pt x="7058114" y="3059188"/>
                </a:lnTo>
                <a:lnTo>
                  <a:pt x="7065416" y="3107067"/>
                </a:lnTo>
                <a:lnTo>
                  <a:pt x="7077303" y="3153270"/>
                </a:lnTo>
                <a:lnTo>
                  <a:pt x="7093509" y="3197580"/>
                </a:lnTo>
                <a:lnTo>
                  <a:pt x="7113816" y="3239732"/>
                </a:lnTo>
                <a:lnTo>
                  <a:pt x="7137971" y="3279483"/>
                </a:lnTo>
                <a:lnTo>
                  <a:pt x="7165734" y="3316605"/>
                </a:lnTo>
                <a:lnTo>
                  <a:pt x="7196849" y="3350857"/>
                </a:lnTo>
                <a:lnTo>
                  <a:pt x="7231100" y="3381972"/>
                </a:lnTo>
                <a:lnTo>
                  <a:pt x="7268223" y="3409734"/>
                </a:lnTo>
                <a:lnTo>
                  <a:pt x="7307974" y="3433889"/>
                </a:lnTo>
                <a:lnTo>
                  <a:pt x="7350125" y="3454196"/>
                </a:lnTo>
                <a:lnTo>
                  <a:pt x="7394435" y="3470402"/>
                </a:lnTo>
                <a:lnTo>
                  <a:pt x="7440638" y="3482289"/>
                </a:lnTo>
                <a:lnTo>
                  <a:pt x="7488517" y="3489591"/>
                </a:lnTo>
                <a:lnTo>
                  <a:pt x="7537818" y="3492081"/>
                </a:lnTo>
                <a:lnTo>
                  <a:pt x="13392722" y="3492081"/>
                </a:lnTo>
                <a:lnTo>
                  <a:pt x="13442010" y="3489591"/>
                </a:lnTo>
                <a:lnTo>
                  <a:pt x="13489889" y="3482289"/>
                </a:lnTo>
                <a:lnTo>
                  <a:pt x="13536105" y="3470402"/>
                </a:lnTo>
                <a:lnTo>
                  <a:pt x="13580402" y="3454196"/>
                </a:lnTo>
                <a:lnTo>
                  <a:pt x="13622554" y="3433889"/>
                </a:lnTo>
                <a:lnTo>
                  <a:pt x="13662317" y="3409734"/>
                </a:lnTo>
                <a:lnTo>
                  <a:pt x="13699439" y="3381972"/>
                </a:lnTo>
                <a:lnTo>
                  <a:pt x="13733679" y="3350857"/>
                </a:lnTo>
                <a:lnTo>
                  <a:pt x="13764806" y="3316605"/>
                </a:lnTo>
                <a:lnTo>
                  <a:pt x="13792568" y="3279483"/>
                </a:lnTo>
                <a:lnTo>
                  <a:pt x="13816711" y="3239732"/>
                </a:lnTo>
                <a:lnTo>
                  <a:pt x="13837018" y="3197580"/>
                </a:lnTo>
                <a:lnTo>
                  <a:pt x="13853236" y="3153270"/>
                </a:lnTo>
                <a:lnTo>
                  <a:pt x="13865124" y="3107067"/>
                </a:lnTo>
                <a:lnTo>
                  <a:pt x="13872426" y="3059188"/>
                </a:lnTo>
                <a:lnTo>
                  <a:pt x="13874915" y="3009887"/>
                </a:lnTo>
                <a:lnTo>
                  <a:pt x="13874915" y="482206"/>
                </a:lnTo>
                <a:close/>
              </a:path>
            </a:pathLst>
          </a:custGeom>
          <a:solidFill>
            <a:srgbClr val="FFD0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324696" y="2602407"/>
            <a:ext cx="13757275" cy="7195184"/>
          </a:xfrm>
          <a:custGeom>
            <a:avLst/>
            <a:gdLst/>
            <a:ahLst/>
            <a:cxnLst/>
            <a:rect l="l" t="t" r="r" b="b"/>
            <a:pathLst>
              <a:path w="13757275" h="7195184">
                <a:moveTo>
                  <a:pt x="6819290" y="482206"/>
                </a:moveTo>
                <a:lnTo>
                  <a:pt x="6816801" y="432904"/>
                </a:lnTo>
                <a:lnTo>
                  <a:pt x="6809499" y="385025"/>
                </a:lnTo>
                <a:lnTo>
                  <a:pt x="6797611" y="338810"/>
                </a:lnTo>
                <a:lnTo>
                  <a:pt x="6781406" y="294513"/>
                </a:lnTo>
                <a:lnTo>
                  <a:pt x="6761099" y="252361"/>
                </a:lnTo>
                <a:lnTo>
                  <a:pt x="6736943" y="212610"/>
                </a:lnTo>
                <a:lnTo>
                  <a:pt x="6709181" y="175488"/>
                </a:lnTo>
                <a:lnTo>
                  <a:pt x="6678066" y="141236"/>
                </a:lnTo>
                <a:lnTo>
                  <a:pt x="6643814" y="110121"/>
                </a:lnTo>
                <a:lnTo>
                  <a:pt x="6606692" y="82359"/>
                </a:lnTo>
                <a:lnTo>
                  <a:pt x="6566941" y="58204"/>
                </a:lnTo>
                <a:lnTo>
                  <a:pt x="6524790" y="37896"/>
                </a:lnTo>
                <a:lnTo>
                  <a:pt x="6480480" y="21678"/>
                </a:lnTo>
                <a:lnTo>
                  <a:pt x="6434277" y="9804"/>
                </a:lnTo>
                <a:lnTo>
                  <a:pt x="6386398" y="2489"/>
                </a:lnTo>
                <a:lnTo>
                  <a:pt x="6337097" y="0"/>
                </a:lnTo>
                <a:lnTo>
                  <a:pt x="482206" y="0"/>
                </a:lnTo>
                <a:lnTo>
                  <a:pt x="432904" y="2489"/>
                </a:lnTo>
                <a:lnTo>
                  <a:pt x="385025" y="9804"/>
                </a:lnTo>
                <a:lnTo>
                  <a:pt x="338810" y="21678"/>
                </a:lnTo>
                <a:lnTo>
                  <a:pt x="294513" y="37896"/>
                </a:lnTo>
                <a:lnTo>
                  <a:pt x="252361" y="58204"/>
                </a:lnTo>
                <a:lnTo>
                  <a:pt x="212598" y="82359"/>
                </a:lnTo>
                <a:lnTo>
                  <a:pt x="175475" y="110121"/>
                </a:lnTo>
                <a:lnTo>
                  <a:pt x="141236" y="141236"/>
                </a:lnTo>
                <a:lnTo>
                  <a:pt x="110109" y="175488"/>
                </a:lnTo>
                <a:lnTo>
                  <a:pt x="82346" y="212610"/>
                </a:lnTo>
                <a:lnTo>
                  <a:pt x="58204" y="252361"/>
                </a:lnTo>
                <a:lnTo>
                  <a:pt x="37896" y="294513"/>
                </a:lnTo>
                <a:lnTo>
                  <a:pt x="21678" y="338810"/>
                </a:lnTo>
                <a:lnTo>
                  <a:pt x="9791" y="385025"/>
                </a:lnTo>
                <a:lnTo>
                  <a:pt x="2489" y="432904"/>
                </a:lnTo>
                <a:lnTo>
                  <a:pt x="0" y="482206"/>
                </a:lnTo>
                <a:lnTo>
                  <a:pt x="0" y="3054553"/>
                </a:lnTo>
                <a:lnTo>
                  <a:pt x="2489" y="3103854"/>
                </a:lnTo>
                <a:lnTo>
                  <a:pt x="9791" y="3151733"/>
                </a:lnTo>
                <a:lnTo>
                  <a:pt x="21678" y="3197949"/>
                </a:lnTo>
                <a:lnTo>
                  <a:pt x="37896" y="3242246"/>
                </a:lnTo>
                <a:lnTo>
                  <a:pt x="58204" y="3284397"/>
                </a:lnTo>
                <a:lnTo>
                  <a:pt x="82346" y="3324161"/>
                </a:lnTo>
                <a:lnTo>
                  <a:pt x="110109" y="3361283"/>
                </a:lnTo>
                <a:lnTo>
                  <a:pt x="141236" y="3395522"/>
                </a:lnTo>
                <a:lnTo>
                  <a:pt x="175475" y="3426650"/>
                </a:lnTo>
                <a:lnTo>
                  <a:pt x="212598" y="3454412"/>
                </a:lnTo>
                <a:lnTo>
                  <a:pt x="252361" y="3478555"/>
                </a:lnTo>
                <a:lnTo>
                  <a:pt x="294513" y="3498862"/>
                </a:lnTo>
                <a:lnTo>
                  <a:pt x="338810" y="3515080"/>
                </a:lnTo>
                <a:lnTo>
                  <a:pt x="385025" y="3526967"/>
                </a:lnTo>
                <a:lnTo>
                  <a:pt x="432904" y="3534270"/>
                </a:lnTo>
                <a:lnTo>
                  <a:pt x="482193" y="3536759"/>
                </a:lnTo>
                <a:lnTo>
                  <a:pt x="6337097" y="3536759"/>
                </a:lnTo>
                <a:lnTo>
                  <a:pt x="6386398" y="3534270"/>
                </a:lnTo>
                <a:lnTo>
                  <a:pt x="6434277" y="3526967"/>
                </a:lnTo>
                <a:lnTo>
                  <a:pt x="6480480" y="3515080"/>
                </a:lnTo>
                <a:lnTo>
                  <a:pt x="6524790" y="3498862"/>
                </a:lnTo>
                <a:lnTo>
                  <a:pt x="6566941" y="3478555"/>
                </a:lnTo>
                <a:lnTo>
                  <a:pt x="6606692" y="3454412"/>
                </a:lnTo>
                <a:lnTo>
                  <a:pt x="6643814" y="3426650"/>
                </a:lnTo>
                <a:lnTo>
                  <a:pt x="6678066" y="3395522"/>
                </a:lnTo>
                <a:lnTo>
                  <a:pt x="6709181" y="3361283"/>
                </a:lnTo>
                <a:lnTo>
                  <a:pt x="6736943" y="3324161"/>
                </a:lnTo>
                <a:lnTo>
                  <a:pt x="6761099" y="3284397"/>
                </a:lnTo>
                <a:lnTo>
                  <a:pt x="6781406" y="3242246"/>
                </a:lnTo>
                <a:lnTo>
                  <a:pt x="6797611" y="3197949"/>
                </a:lnTo>
                <a:lnTo>
                  <a:pt x="6809499" y="3151733"/>
                </a:lnTo>
                <a:lnTo>
                  <a:pt x="6816801" y="3103854"/>
                </a:lnTo>
                <a:lnTo>
                  <a:pt x="6819290" y="3054553"/>
                </a:lnTo>
                <a:lnTo>
                  <a:pt x="6819290" y="482206"/>
                </a:lnTo>
                <a:close/>
              </a:path>
              <a:path w="13757275" h="7195184">
                <a:moveTo>
                  <a:pt x="13756754" y="4266616"/>
                </a:moveTo>
                <a:lnTo>
                  <a:pt x="13754265" y="4217314"/>
                </a:lnTo>
                <a:lnTo>
                  <a:pt x="13746963" y="4169435"/>
                </a:lnTo>
                <a:lnTo>
                  <a:pt x="13735076" y="4123220"/>
                </a:lnTo>
                <a:lnTo>
                  <a:pt x="13718858" y="4078922"/>
                </a:lnTo>
                <a:lnTo>
                  <a:pt x="13698550" y="4036771"/>
                </a:lnTo>
                <a:lnTo>
                  <a:pt x="13674408" y="3997007"/>
                </a:lnTo>
                <a:lnTo>
                  <a:pt x="13646645" y="3959885"/>
                </a:lnTo>
                <a:lnTo>
                  <a:pt x="13615518" y="3925646"/>
                </a:lnTo>
                <a:lnTo>
                  <a:pt x="13581279" y="3894518"/>
                </a:lnTo>
                <a:lnTo>
                  <a:pt x="13544156" y="3866769"/>
                </a:lnTo>
                <a:lnTo>
                  <a:pt x="13504393" y="3842613"/>
                </a:lnTo>
                <a:lnTo>
                  <a:pt x="13462241" y="3822306"/>
                </a:lnTo>
                <a:lnTo>
                  <a:pt x="13417944" y="3806088"/>
                </a:lnTo>
                <a:lnTo>
                  <a:pt x="13371729" y="3794201"/>
                </a:lnTo>
                <a:lnTo>
                  <a:pt x="13323850" y="3786898"/>
                </a:lnTo>
                <a:lnTo>
                  <a:pt x="13274548" y="3784409"/>
                </a:lnTo>
                <a:lnTo>
                  <a:pt x="7419657" y="3784409"/>
                </a:lnTo>
                <a:lnTo>
                  <a:pt x="7370356" y="3786898"/>
                </a:lnTo>
                <a:lnTo>
                  <a:pt x="7322477" y="3794201"/>
                </a:lnTo>
                <a:lnTo>
                  <a:pt x="7276274" y="3806088"/>
                </a:lnTo>
                <a:lnTo>
                  <a:pt x="7231964" y="3822306"/>
                </a:lnTo>
                <a:lnTo>
                  <a:pt x="7189813" y="3842613"/>
                </a:lnTo>
                <a:lnTo>
                  <a:pt x="7150062" y="3866769"/>
                </a:lnTo>
                <a:lnTo>
                  <a:pt x="7112940" y="3894518"/>
                </a:lnTo>
                <a:lnTo>
                  <a:pt x="7078688" y="3925646"/>
                </a:lnTo>
                <a:lnTo>
                  <a:pt x="7047573" y="3959885"/>
                </a:lnTo>
                <a:lnTo>
                  <a:pt x="7019811" y="3997007"/>
                </a:lnTo>
                <a:lnTo>
                  <a:pt x="6995655" y="4036771"/>
                </a:lnTo>
                <a:lnTo>
                  <a:pt x="6975348" y="4078922"/>
                </a:lnTo>
                <a:lnTo>
                  <a:pt x="6959143" y="4123220"/>
                </a:lnTo>
                <a:lnTo>
                  <a:pt x="6947255" y="4169435"/>
                </a:lnTo>
                <a:lnTo>
                  <a:pt x="6939953" y="4217314"/>
                </a:lnTo>
                <a:lnTo>
                  <a:pt x="6937464" y="4266616"/>
                </a:lnTo>
                <a:lnTo>
                  <a:pt x="6937464" y="6712585"/>
                </a:lnTo>
                <a:lnTo>
                  <a:pt x="6939953" y="6761886"/>
                </a:lnTo>
                <a:lnTo>
                  <a:pt x="6947255" y="6809765"/>
                </a:lnTo>
                <a:lnTo>
                  <a:pt x="6959143" y="6855981"/>
                </a:lnTo>
                <a:lnTo>
                  <a:pt x="6975348" y="6900278"/>
                </a:lnTo>
                <a:lnTo>
                  <a:pt x="6995655" y="6942429"/>
                </a:lnTo>
                <a:lnTo>
                  <a:pt x="7019811" y="6982193"/>
                </a:lnTo>
                <a:lnTo>
                  <a:pt x="7047573" y="7019315"/>
                </a:lnTo>
                <a:lnTo>
                  <a:pt x="7078688" y="7053554"/>
                </a:lnTo>
                <a:lnTo>
                  <a:pt x="7112940" y="7084682"/>
                </a:lnTo>
                <a:lnTo>
                  <a:pt x="7150062" y="7112432"/>
                </a:lnTo>
                <a:lnTo>
                  <a:pt x="7189813" y="7136587"/>
                </a:lnTo>
                <a:lnTo>
                  <a:pt x="7231964" y="7156894"/>
                </a:lnTo>
                <a:lnTo>
                  <a:pt x="7276274" y="7173112"/>
                </a:lnTo>
                <a:lnTo>
                  <a:pt x="7322477" y="7184999"/>
                </a:lnTo>
                <a:lnTo>
                  <a:pt x="7370356" y="7192302"/>
                </a:lnTo>
                <a:lnTo>
                  <a:pt x="7419645" y="7194791"/>
                </a:lnTo>
                <a:lnTo>
                  <a:pt x="13274574" y="7194791"/>
                </a:lnTo>
                <a:lnTo>
                  <a:pt x="13323850" y="7192302"/>
                </a:lnTo>
                <a:lnTo>
                  <a:pt x="13371729" y="7184999"/>
                </a:lnTo>
                <a:lnTo>
                  <a:pt x="13417944" y="7173112"/>
                </a:lnTo>
                <a:lnTo>
                  <a:pt x="13462241" y="7156894"/>
                </a:lnTo>
                <a:lnTo>
                  <a:pt x="13504393" y="7136587"/>
                </a:lnTo>
                <a:lnTo>
                  <a:pt x="13544156" y="7112432"/>
                </a:lnTo>
                <a:lnTo>
                  <a:pt x="13581279" y="7084682"/>
                </a:lnTo>
                <a:lnTo>
                  <a:pt x="13615518" y="7053554"/>
                </a:lnTo>
                <a:lnTo>
                  <a:pt x="13646645" y="7019315"/>
                </a:lnTo>
                <a:lnTo>
                  <a:pt x="13674408" y="6982193"/>
                </a:lnTo>
                <a:lnTo>
                  <a:pt x="13698550" y="6942429"/>
                </a:lnTo>
                <a:lnTo>
                  <a:pt x="13718858" y="6900278"/>
                </a:lnTo>
                <a:lnTo>
                  <a:pt x="13735076" y="6855981"/>
                </a:lnTo>
                <a:lnTo>
                  <a:pt x="13746963" y="6809765"/>
                </a:lnTo>
                <a:lnTo>
                  <a:pt x="13754265" y="6761886"/>
                </a:lnTo>
                <a:lnTo>
                  <a:pt x="13756754" y="6712585"/>
                </a:lnTo>
                <a:lnTo>
                  <a:pt x="13756754" y="42666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0584" y="8345580"/>
            <a:ext cx="678353" cy="67835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9296233"/>
            <a:ext cx="1026326" cy="99076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015169" y="9296233"/>
            <a:ext cx="1272830" cy="990765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534933" y="8345580"/>
            <a:ext cx="678352" cy="678353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36119" y="2791923"/>
            <a:ext cx="781049" cy="781049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11204156" y="2814763"/>
            <a:ext cx="358140" cy="353695"/>
          </a:xfrm>
          <a:custGeom>
            <a:avLst/>
            <a:gdLst/>
            <a:ahLst/>
            <a:cxnLst/>
            <a:rect l="l" t="t" r="r" b="b"/>
            <a:pathLst>
              <a:path w="358140" h="353694">
                <a:moveTo>
                  <a:pt x="90589" y="70078"/>
                </a:moveTo>
                <a:lnTo>
                  <a:pt x="89115" y="68313"/>
                </a:lnTo>
                <a:lnTo>
                  <a:pt x="88823" y="66687"/>
                </a:lnTo>
                <a:lnTo>
                  <a:pt x="87642" y="64922"/>
                </a:lnTo>
                <a:lnTo>
                  <a:pt x="86182" y="62407"/>
                </a:lnTo>
                <a:lnTo>
                  <a:pt x="82943" y="61226"/>
                </a:lnTo>
                <a:lnTo>
                  <a:pt x="81038" y="59309"/>
                </a:lnTo>
                <a:lnTo>
                  <a:pt x="77076" y="59309"/>
                </a:lnTo>
                <a:lnTo>
                  <a:pt x="74142" y="59753"/>
                </a:lnTo>
                <a:lnTo>
                  <a:pt x="71196" y="60490"/>
                </a:lnTo>
                <a:lnTo>
                  <a:pt x="71196" y="60934"/>
                </a:lnTo>
                <a:lnTo>
                  <a:pt x="71640" y="60934"/>
                </a:lnTo>
                <a:lnTo>
                  <a:pt x="73545" y="64922"/>
                </a:lnTo>
                <a:lnTo>
                  <a:pt x="77076" y="67576"/>
                </a:lnTo>
                <a:lnTo>
                  <a:pt x="79425" y="70967"/>
                </a:lnTo>
                <a:lnTo>
                  <a:pt x="85001" y="82765"/>
                </a:lnTo>
                <a:lnTo>
                  <a:pt x="85445" y="82321"/>
                </a:lnTo>
                <a:lnTo>
                  <a:pt x="88823" y="79819"/>
                </a:lnTo>
                <a:lnTo>
                  <a:pt x="90589" y="75984"/>
                </a:lnTo>
                <a:lnTo>
                  <a:pt x="90589" y="70078"/>
                </a:lnTo>
                <a:close/>
              </a:path>
              <a:path w="358140" h="353694">
                <a:moveTo>
                  <a:pt x="357809" y="352653"/>
                </a:moveTo>
                <a:lnTo>
                  <a:pt x="356044" y="350443"/>
                </a:lnTo>
                <a:lnTo>
                  <a:pt x="355612" y="347205"/>
                </a:lnTo>
                <a:lnTo>
                  <a:pt x="353847" y="344843"/>
                </a:lnTo>
                <a:lnTo>
                  <a:pt x="346506" y="337769"/>
                </a:lnTo>
                <a:lnTo>
                  <a:pt x="334759" y="324383"/>
                </a:lnTo>
                <a:lnTo>
                  <a:pt x="321106" y="312991"/>
                </a:lnTo>
                <a:lnTo>
                  <a:pt x="305295" y="303403"/>
                </a:lnTo>
                <a:lnTo>
                  <a:pt x="297586" y="297599"/>
                </a:lnTo>
                <a:lnTo>
                  <a:pt x="292468" y="290715"/>
                </a:lnTo>
                <a:lnTo>
                  <a:pt x="297903" y="290271"/>
                </a:lnTo>
                <a:lnTo>
                  <a:pt x="317728" y="284518"/>
                </a:lnTo>
                <a:lnTo>
                  <a:pt x="325208" y="284962"/>
                </a:lnTo>
                <a:lnTo>
                  <a:pt x="345617" y="279361"/>
                </a:lnTo>
                <a:lnTo>
                  <a:pt x="345617" y="277152"/>
                </a:lnTo>
                <a:lnTo>
                  <a:pt x="341223" y="272719"/>
                </a:lnTo>
                <a:lnTo>
                  <a:pt x="337985" y="266827"/>
                </a:lnTo>
                <a:lnTo>
                  <a:pt x="313905" y="246862"/>
                </a:lnTo>
                <a:lnTo>
                  <a:pt x="293065" y="232460"/>
                </a:lnTo>
                <a:lnTo>
                  <a:pt x="264718" y="218744"/>
                </a:lnTo>
                <a:lnTo>
                  <a:pt x="259880" y="218008"/>
                </a:lnTo>
                <a:lnTo>
                  <a:pt x="253707" y="210045"/>
                </a:lnTo>
                <a:lnTo>
                  <a:pt x="251218" y="202958"/>
                </a:lnTo>
                <a:lnTo>
                  <a:pt x="224967" y="146672"/>
                </a:lnTo>
                <a:lnTo>
                  <a:pt x="219151" y="132588"/>
                </a:lnTo>
                <a:lnTo>
                  <a:pt x="196621" y="97878"/>
                </a:lnTo>
                <a:lnTo>
                  <a:pt x="149263" y="51866"/>
                </a:lnTo>
                <a:lnTo>
                  <a:pt x="113715" y="30429"/>
                </a:lnTo>
                <a:lnTo>
                  <a:pt x="71196" y="22733"/>
                </a:lnTo>
                <a:lnTo>
                  <a:pt x="67233" y="20967"/>
                </a:lnTo>
                <a:lnTo>
                  <a:pt x="63423" y="16395"/>
                </a:lnTo>
                <a:lnTo>
                  <a:pt x="46075" y="6464"/>
                </a:lnTo>
                <a:lnTo>
                  <a:pt x="28600" y="25"/>
                </a:lnTo>
                <a:lnTo>
                  <a:pt x="12090" y="0"/>
                </a:lnTo>
                <a:lnTo>
                  <a:pt x="1168" y="11531"/>
                </a:lnTo>
                <a:lnTo>
                  <a:pt x="0" y="23329"/>
                </a:lnTo>
                <a:lnTo>
                  <a:pt x="4305" y="34366"/>
                </a:lnTo>
                <a:lnTo>
                  <a:pt x="20688" y="56959"/>
                </a:lnTo>
                <a:lnTo>
                  <a:pt x="26123" y="63449"/>
                </a:lnTo>
                <a:lnTo>
                  <a:pt x="30822" y="73914"/>
                </a:lnTo>
                <a:lnTo>
                  <a:pt x="45796" y="115646"/>
                </a:lnTo>
                <a:lnTo>
                  <a:pt x="60337" y="134823"/>
                </a:lnTo>
                <a:lnTo>
                  <a:pt x="61074" y="139255"/>
                </a:lnTo>
                <a:lnTo>
                  <a:pt x="57696" y="144119"/>
                </a:lnTo>
                <a:lnTo>
                  <a:pt x="57404" y="151485"/>
                </a:lnTo>
                <a:lnTo>
                  <a:pt x="55486" y="157683"/>
                </a:lnTo>
                <a:lnTo>
                  <a:pt x="51117" y="179425"/>
                </a:lnTo>
                <a:lnTo>
                  <a:pt x="51028" y="201752"/>
                </a:lnTo>
                <a:lnTo>
                  <a:pt x="54927" y="222681"/>
                </a:lnTo>
                <a:lnTo>
                  <a:pt x="62534" y="240271"/>
                </a:lnTo>
                <a:lnTo>
                  <a:pt x="66675" y="245872"/>
                </a:lnTo>
                <a:lnTo>
                  <a:pt x="72745" y="251764"/>
                </a:lnTo>
                <a:lnTo>
                  <a:pt x="80124" y="255524"/>
                </a:lnTo>
                <a:lnTo>
                  <a:pt x="88239" y="254723"/>
                </a:lnTo>
                <a:lnTo>
                  <a:pt x="94259" y="249796"/>
                </a:lnTo>
                <a:lnTo>
                  <a:pt x="97028" y="242328"/>
                </a:lnTo>
                <a:lnTo>
                  <a:pt x="100711" y="221107"/>
                </a:lnTo>
                <a:lnTo>
                  <a:pt x="100279" y="219189"/>
                </a:lnTo>
                <a:lnTo>
                  <a:pt x="101739" y="217563"/>
                </a:lnTo>
                <a:lnTo>
                  <a:pt x="126390" y="255803"/>
                </a:lnTo>
                <a:lnTo>
                  <a:pt x="149466" y="275234"/>
                </a:lnTo>
                <a:lnTo>
                  <a:pt x="154165" y="282905"/>
                </a:lnTo>
                <a:lnTo>
                  <a:pt x="161505" y="285559"/>
                </a:lnTo>
                <a:lnTo>
                  <a:pt x="161505" y="284810"/>
                </a:lnTo>
                <a:lnTo>
                  <a:pt x="160477" y="284810"/>
                </a:lnTo>
                <a:lnTo>
                  <a:pt x="159004" y="282600"/>
                </a:lnTo>
                <a:lnTo>
                  <a:pt x="120827" y="232117"/>
                </a:lnTo>
                <a:lnTo>
                  <a:pt x="102628" y="193967"/>
                </a:lnTo>
                <a:lnTo>
                  <a:pt x="102628" y="189547"/>
                </a:lnTo>
                <a:lnTo>
                  <a:pt x="100126" y="188061"/>
                </a:lnTo>
                <a:lnTo>
                  <a:pt x="96456" y="193522"/>
                </a:lnTo>
                <a:lnTo>
                  <a:pt x="91020" y="198094"/>
                </a:lnTo>
                <a:lnTo>
                  <a:pt x="85572" y="213106"/>
                </a:lnTo>
                <a:lnTo>
                  <a:pt x="81483" y="241896"/>
                </a:lnTo>
                <a:lnTo>
                  <a:pt x="72669" y="240423"/>
                </a:lnTo>
                <a:lnTo>
                  <a:pt x="67094" y="225374"/>
                </a:lnTo>
                <a:lnTo>
                  <a:pt x="62763" y="210578"/>
                </a:lnTo>
                <a:lnTo>
                  <a:pt x="60871" y="193509"/>
                </a:lnTo>
                <a:lnTo>
                  <a:pt x="61531" y="175958"/>
                </a:lnTo>
                <a:lnTo>
                  <a:pt x="64884" y="159753"/>
                </a:lnTo>
                <a:lnTo>
                  <a:pt x="69735" y="146507"/>
                </a:lnTo>
                <a:lnTo>
                  <a:pt x="71577" y="138925"/>
                </a:lnTo>
                <a:lnTo>
                  <a:pt x="71056" y="133502"/>
                </a:lnTo>
                <a:lnTo>
                  <a:pt x="69583" y="128778"/>
                </a:lnTo>
                <a:lnTo>
                  <a:pt x="64744" y="126123"/>
                </a:lnTo>
                <a:lnTo>
                  <a:pt x="58724" y="117716"/>
                </a:lnTo>
                <a:lnTo>
                  <a:pt x="55346" y="111823"/>
                </a:lnTo>
                <a:lnTo>
                  <a:pt x="53136" y="106654"/>
                </a:lnTo>
                <a:lnTo>
                  <a:pt x="42570" y="74282"/>
                </a:lnTo>
                <a:lnTo>
                  <a:pt x="35229" y="57391"/>
                </a:lnTo>
                <a:lnTo>
                  <a:pt x="21285" y="38227"/>
                </a:lnTo>
                <a:lnTo>
                  <a:pt x="16141" y="33502"/>
                </a:lnTo>
                <a:lnTo>
                  <a:pt x="9537" y="18465"/>
                </a:lnTo>
                <a:lnTo>
                  <a:pt x="11442" y="15506"/>
                </a:lnTo>
                <a:lnTo>
                  <a:pt x="11887" y="13589"/>
                </a:lnTo>
                <a:lnTo>
                  <a:pt x="14820" y="12268"/>
                </a:lnTo>
                <a:lnTo>
                  <a:pt x="54457" y="26720"/>
                </a:lnTo>
                <a:lnTo>
                  <a:pt x="61506" y="33794"/>
                </a:lnTo>
                <a:lnTo>
                  <a:pt x="65913" y="35128"/>
                </a:lnTo>
                <a:lnTo>
                  <a:pt x="71056" y="35128"/>
                </a:lnTo>
                <a:lnTo>
                  <a:pt x="78841" y="36893"/>
                </a:lnTo>
                <a:lnTo>
                  <a:pt x="87642" y="35572"/>
                </a:lnTo>
                <a:lnTo>
                  <a:pt x="130225" y="54737"/>
                </a:lnTo>
                <a:lnTo>
                  <a:pt x="174053" y="91592"/>
                </a:lnTo>
                <a:lnTo>
                  <a:pt x="209511" y="144411"/>
                </a:lnTo>
                <a:lnTo>
                  <a:pt x="210693" y="149567"/>
                </a:lnTo>
                <a:lnTo>
                  <a:pt x="237909" y="208775"/>
                </a:lnTo>
                <a:lnTo>
                  <a:pt x="242316" y="216928"/>
                </a:lnTo>
                <a:lnTo>
                  <a:pt x="247396" y="224497"/>
                </a:lnTo>
                <a:lnTo>
                  <a:pt x="251917" y="227939"/>
                </a:lnTo>
                <a:lnTo>
                  <a:pt x="272351" y="235115"/>
                </a:lnTo>
                <a:lnTo>
                  <a:pt x="277202" y="237324"/>
                </a:lnTo>
                <a:lnTo>
                  <a:pt x="284835" y="239242"/>
                </a:lnTo>
                <a:lnTo>
                  <a:pt x="317728" y="261658"/>
                </a:lnTo>
                <a:lnTo>
                  <a:pt x="328447" y="267855"/>
                </a:lnTo>
                <a:lnTo>
                  <a:pt x="330644" y="272719"/>
                </a:lnTo>
                <a:lnTo>
                  <a:pt x="316915" y="273151"/>
                </a:lnTo>
                <a:lnTo>
                  <a:pt x="304469" y="274269"/>
                </a:lnTo>
                <a:lnTo>
                  <a:pt x="293293" y="276504"/>
                </a:lnTo>
                <a:lnTo>
                  <a:pt x="279552" y="281419"/>
                </a:lnTo>
                <a:lnTo>
                  <a:pt x="273672" y="281419"/>
                </a:lnTo>
                <a:lnTo>
                  <a:pt x="273240" y="286143"/>
                </a:lnTo>
                <a:lnTo>
                  <a:pt x="275145" y="288061"/>
                </a:lnTo>
                <a:lnTo>
                  <a:pt x="275437" y="291299"/>
                </a:lnTo>
                <a:lnTo>
                  <a:pt x="280593" y="299720"/>
                </a:lnTo>
                <a:lnTo>
                  <a:pt x="284848" y="304736"/>
                </a:lnTo>
                <a:lnTo>
                  <a:pt x="305689" y="320357"/>
                </a:lnTo>
                <a:lnTo>
                  <a:pt x="335343" y="335546"/>
                </a:lnTo>
                <a:lnTo>
                  <a:pt x="340779" y="338937"/>
                </a:lnTo>
                <a:lnTo>
                  <a:pt x="352666" y="348970"/>
                </a:lnTo>
                <a:lnTo>
                  <a:pt x="354431" y="352221"/>
                </a:lnTo>
                <a:lnTo>
                  <a:pt x="357809" y="353390"/>
                </a:lnTo>
                <a:lnTo>
                  <a:pt x="357809" y="352653"/>
                </a:lnTo>
                <a:close/>
              </a:path>
            </a:pathLst>
          </a:custGeom>
          <a:solidFill>
            <a:srgbClr val="0066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2583899" y="2813160"/>
            <a:ext cx="1104900" cy="389255"/>
          </a:xfrm>
          <a:custGeom>
            <a:avLst/>
            <a:gdLst/>
            <a:ahLst/>
            <a:cxnLst/>
            <a:rect l="l" t="t" r="r" b="b"/>
            <a:pathLst>
              <a:path w="1104900" h="389255">
                <a:moveTo>
                  <a:pt x="210552" y="338622"/>
                </a:moveTo>
                <a:lnTo>
                  <a:pt x="0" y="338622"/>
                </a:lnTo>
                <a:lnTo>
                  <a:pt x="0" y="289953"/>
                </a:lnTo>
                <a:lnTo>
                  <a:pt x="204972" y="289953"/>
                </a:lnTo>
                <a:lnTo>
                  <a:pt x="206440" y="289363"/>
                </a:lnTo>
                <a:lnTo>
                  <a:pt x="209377" y="289363"/>
                </a:lnTo>
                <a:lnTo>
                  <a:pt x="219263" y="288227"/>
                </a:lnTo>
                <a:lnTo>
                  <a:pt x="251076" y="266650"/>
                </a:lnTo>
                <a:lnTo>
                  <a:pt x="251076" y="213704"/>
                </a:lnTo>
                <a:lnTo>
                  <a:pt x="205853" y="190549"/>
                </a:lnTo>
                <a:lnTo>
                  <a:pt x="203651" y="189959"/>
                </a:lnTo>
                <a:lnTo>
                  <a:pt x="107918" y="189959"/>
                </a:lnTo>
                <a:lnTo>
                  <a:pt x="101164" y="189369"/>
                </a:lnTo>
                <a:lnTo>
                  <a:pt x="59052" y="180697"/>
                </a:lnTo>
                <a:lnTo>
                  <a:pt x="27676" y="165458"/>
                </a:lnTo>
                <a:lnTo>
                  <a:pt x="8084" y="145213"/>
                </a:lnTo>
                <a:lnTo>
                  <a:pt x="1321" y="121526"/>
                </a:lnTo>
                <a:lnTo>
                  <a:pt x="1321" y="78756"/>
                </a:lnTo>
                <a:lnTo>
                  <a:pt x="16187" y="33294"/>
                </a:lnTo>
                <a:lnTo>
                  <a:pt x="63429" y="6194"/>
                </a:lnTo>
                <a:lnTo>
                  <a:pt x="102908" y="345"/>
                </a:lnTo>
                <a:lnTo>
                  <a:pt x="122748" y="0"/>
                </a:lnTo>
                <a:lnTo>
                  <a:pt x="327868" y="0"/>
                </a:lnTo>
                <a:lnTo>
                  <a:pt x="327868" y="48964"/>
                </a:lnTo>
                <a:lnTo>
                  <a:pt x="112323" y="48964"/>
                </a:lnTo>
                <a:lnTo>
                  <a:pt x="96105" y="51529"/>
                </a:lnTo>
                <a:lnTo>
                  <a:pt x="85325" y="55435"/>
                </a:lnTo>
                <a:lnTo>
                  <a:pt x="78647" y="61636"/>
                </a:lnTo>
                <a:lnTo>
                  <a:pt x="74735" y="71087"/>
                </a:lnTo>
                <a:lnTo>
                  <a:pt x="74148" y="73299"/>
                </a:lnTo>
                <a:lnTo>
                  <a:pt x="74148" y="115037"/>
                </a:lnTo>
                <a:lnTo>
                  <a:pt x="102919" y="144170"/>
                </a:lnTo>
                <a:lnTo>
                  <a:pt x="122308" y="145861"/>
                </a:lnTo>
                <a:lnTo>
                  <a:pt x="210698" y="145861"/>
                </a:lnTo>
                <a:lnTo>
                  <a:pt x="226571" y="146478"/>
                </a:lnTo>
                <a:lnTo>
                  <a:pt x="272807" y="156480"/>
                </a:lnTo>
                <a:lnTo>
                  <a:pt x="311790" y="180759"/>
                </a:lnTo>
                <a:lnTo>
                  <a:pt x="324784" y="210459"/>
                </a:lnTo>
                <a:lnTo>
                  <a:pt x="324784" y="264438"/>
                </a:lnTo>
                <a:lnTo>
                  <a:pt x="298582" y="312617"/>
                </a:lnTo>
                <a:lnTo>
                  <a:pt x="262708" y="330596"/>
                </a:lnTo>
                <a:lnTo>
                  <a:pt x="228781" y="337698"/>
                </a:lnTo>
                <a:lnTo>
                  <a:pt x="210552" y="338622"/>
                </a:lnTo>
                <a:close/>
              </a:path>
              <a:path w="1104900" h="389255">
                <a:moveTo>
                  <a:pt x="854034" y="253819"/>
                </a:moveTo>
                <a:lnTo>
                  <a:pt x="780540" y="253819"/>
                </a:lnTo>
                <a:lnTo>
                  <a:pt x="780540" y="147"/>
                </a:lnTo>
                <a:lnTo>
                  <a:pt x="853955" y="147"/>
                </a:lnTo>
                <a:lnTo>
                  <a:pt x="854034" y="253819"/>
                </a:lnTo>
                <a:close/>
              </a:path>
              <a:path w="1104900" h="389255">
                <a:moveTo>
                  <a:pt x="1104591" y="338622"/>
                </a:moveTo>
                <a:lnTo>
                  <a:pt x="914301" y="338622"/>
                </a:lnTo>
                <a:lnTo>
                  <a:pt x="893011" y="337443"/>
                </a:lnTo>
                <a:lnTo>
                  <a:pt x="843761" y="329041"/>
                </a:lnTo>
                <a:lnTo>
                  <a:pt x="808566" y="312260"/>
                </a:lnTo>
                <a:lnTo>
                  <a:pt x="787439" y="287128"/>
                </a:lnTo>
                <a:lnTo>
                  <a:pt x="780393" y="253672"/>
                </a:lnTo>
                <a:lnTo>
                  <a:pt x="780540" y="253819"/>
                </a:lnTo>
                <a:lnTo>
                  <a:pt x="854034" y="253819"/>
                </a:lnTo>
                <a:lnTo>
                  <a:pt x="856937" y="270042"/>
                </a:lnTo>
                <a:lnTo>
                  <a:pt x="866802" y="281399"/>
                </a:lnTo>
                <a:lnTo>
                  <a:pt x="884926" y="287888"/>
                </a:lnTo>
                <a:lnTo>
                  <a:pt x="912686" y="289953"/>
                </a:lnTo>
                <a:lnTo>
                  <a:pt x="1104591" y="289953"/>
                </a:lnTo>
                <a:lnTo>
                  <a:pt x="1104591" y="338622"/>
                </a:lnTo>
                <a:close/>
              </a:path>
              <a:path w="1104900" h="389255">
                <a:moveTo>
                  <a:pt x="561325" y="339655"/>
                </a:moveTo>
                <a:lnTo>
                  <a:pt x="482919" y="339655"/>
                </a:lnTo>
                <a:lnTo>
                  <a:pt x="472918" y="339360"/>
                </a:lnTo>
                <a:lnTo>
                  <a:pt x="408444" y="322044"/>
                </a:lnTo>
                <a:lnTo>
                  <a:pt x="373747" y="283321"/>
                </a:lnTo>
                <a:lnTo>
                  <a:pt x="369420" y="255884"/>
                </a:lnTo>
                <a:lnTo>
                  <a:pt x="371182" y="255884"/>
                </a:lnTo>
                <a:lnTo>
                  <a:pt x="371182" y="81706"/>
                </a:lnTo>
                <a:lnTo>
                  <a:pt x="394473" y="28390"/>
                </a:lnTo>
                <a:lnTo>
                  <a:pt x="463684" y="2064"/>
                </a:lnTo>
                <a:lnTo>
                  <a:pt x="483212" y="884"/>
                </a:lnTo>
                <a:lnTo>
                  <a:pt x="629454" y="884"/>
                </a:lnTo>
                <a:lnTo>
                  <a:pt x="635620" y="1474"/>
                </a:lnTo>
                <a:lnTo>
                  <a:pt x="642668" y="2064"/>
                </a:lnTo>
                <a:lnTo>
                  <a:pt x="682775" y="11833"/>
                </a:lnTo>
                <a:lnTo>
                  <a:pt x="711457" y="28445"/>
                </a:lnTo>
                <a:lnTo>
                  <a:pt x="727262" y="49849"/>
                </a:lnTo>
                <a:lnTo>
                  <a:pt x="504209" y="49849"/>
                </a:lnTo>
                <a:lnTo>
                  <a:pt x="482185" y="52391"/>
                </a:lnTo>
                <a:lnTo>
                  <a:pt x="465226" y="59675"/>
                </a:lnTo>
                <a:lnTo>
                  <a:pt x="454324" y="71190"/>
                </a:lnTo>
                <a:lnTo>
                  <a:pt x="450470" y="86425"/>
                </a:lnTo>
                <a:lnTo>
                  <a:pt x="450176" y="254262"/>
                </a:lnTo>
                <a:lnTo>
                  <a:pt x="451351" y="256474"/>
                </a:lnTo>
                <a:lnTo>
                  <a:pt x="451938" y="259424"/>
                </a:lnTo>
                <a:lnTo>
                  <a:pt x="457644" y="272856"/>
                </a:lnTo>
                <a:lnTo>
                  <a:pt x="468511" y="282708"/>
                </a:lnTo>
                <a:lnTo>
                  <a:pt x="484086" y="288771"/>
                </a:lnTo>
                <a:lnTo>
                  <a:pt x="503915" y="290838"/>
                </a:lnTo>
                <a:lnTo>
                  <a:pt x="727456" y="290838"/>
                </a:lnTo>
                <a:lnTo>
                  <a:pt x="724195" y="298691"/>
                </a:lnTo>
                <a:lnTo>
                  <a:pt x="710774" y="312983"/>
                </a:lnTo>
                <a:lnTo>
                  <a:pt x="691269" y="323874"/>
                </a:lnTo>
                <a:lnTo>
                  <a:pt x="704886" y="336263"/>
                </a:lnTo>
                <a:lnTo>
                  <a:pt x="620057" y="336263"/>
                </a:lnTo>
                <a:lnTo>
                  <a:pt x="561325" y="339655"/>
                </a:lnTo>
                <a:close/>
              </a:path>
              <a:path w="1104900" h="389255">
                <a:moveTo>
                  <a:pt x="730274" y="284053"/>
                </a:moveTo>
                <a:lnTo>
                  <a:pt x="647220" y="284053"/>
                </a:lnTo>
                <a:lnTo>
                  <a:pt x="654116" y="279412"/>
                </a:lnTo>
                <a:lnTo>
                  <a:pt x="659443" y="273914"/>
                </a:lnTo>
                <a:lnTo>
                  <a:pt x="663284" y="267586"/>
                </a:lnTo>
                <a:lnTo>
                  <a:pt x="665720" y="260456"/>
                </a:lnTo>
                <a:lnTo>
                  <a:pt x="666308" y="258244"/>
                </a:lnTo>
                <a:lnTo>
                  <a:pt x="666234" y="81706"/>
                </a:lnTo>
                <a:lnTo>
                  <a:pt x="633820" y="51808"/>
                </a:lnTo>
                <a:lnTo>
                  <a:pt x="614330" y="49849"/>
                </a:lnTo>
                <a:lnTo>
                  <a:pt x="727262" y="49849"/>
                </a:lnTo>
                <a:lnTo>
                  <a:pt x="728671" y="51757"/>
                </a:lnTo>
                <a:lnTo>
                  <a:pt x="734436" y="81706"/>
                </a:lnTo>
                <a:lnTo>
                  <a:pt x="734390" y="256474"/>
                </a:lnTo>
                <a:lnTo>
                  <a:pt x="731945" y="280030"/>
                </a:lnTo>
                <a:lnTo>
                  <a:pt x="730274" y="284053"/>
                </a:lnTo>
                <a:close/>
              </a:path>
              <a:path w="1104900" h="389255">
                <a:moveTo>
                  <a:pt x="727456" y="290838"/>
                </a:moveTo>
                <a:lnTo>
                  <a:pt x="569988" y="290838"/>
                </a:lnTo>
                <a:lnTo>
                  <a:pt x="509495" y="235679"/>
                </a:lnTo>
                <a:lnTo>
                  <a:pt x="594068" y="235679"/>
                </a:lnTo>
                <a:lnTo>
                  <a:pt x="647220" y="284053"/>
                </a:lnTo>
                <a:lnTo>
                  <a:pt x="730274" y="284053"/>
                </a:lnTo>
                <a:lnTo>
                  <a:pt x="727456" y="290838"/>
                </a:lnTo>
                <a:close/>
              </a:path>
              <a:path w="1104900" h="389255">
                <a:moveTo>
                  <a:pt x="762921" y="389062"/>
                </a:moveTo>
                <a:lnTo>
                  <a:pt x="678348" y="389062"/>
                </a:lnTo>
                <a:lnTo>
                  <a:pt x="620057" y="336263"/>
                </a:lnTo>
                <a:lnTo>
                  <a:pt x="704886" y="336263"/>
                </a:lnTo>
                <a:lnTo>
                  <a:pt x="762921" y="389062"/>
                </a:lnTo>
                <a:close/>
              </a:path>
            </a:pathLst>
          </a:custGeom>
          <a:solidFill>
            <a:srgbClr val="CD8B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1612041" y="2806604"/>
            <a:ext cx="915669" cy="442595"/>
          </a:xfrm>
          <a:custGeom>
            <a:avLst/>
            <a:gdLst/>
            <a:ahLst/>
            <a:cxnLst/>
            <a:rect l="l" t="t" r="r" b="b"/>
            <a:pathLst>
              <a:path w="915670" h="442594">
                <a:moveTo>
                  <a:pt x="72826" y="345474"/>
                </a:moveTo>
                <a:lnTo>
                  <a:pt x="0" y="345474"/>
                </a:lnTo>
                <a:lnTo>
                  <a:pt x="0" y="55815"/>
                </a:lnTo>
                <a:lnTo>
                  <a:pt x="19202" y="13630"/>
                </a:lnTo>
                <a:lnTo>
                  <a:pt x="72677" y="0"/>
                </a:lnTo>
                <a:lnTo>
                  <a:pt x="103972" y="4141"/>
                </a:lnTo>
                <a:lnTo>
                  <a:pt x="127807" y="18486"/>
                </a:lnTo>
                <a:lnTo>
                  <a:pt x="143891" y="42247"/>
                </a:lnTo>
                <a:lnTo>
                  <a:pt x="149732" y="55815"/>
                </a:lnTo>
                <a:lnTo>
                  <a:pt x="72826" y="55815"/>
                </a:lnTo>
                <a:lnTo>
                  <a:pt x="72826" y="345474"/>
                </a:lnTo>
                <a:close/>
              </a:path>
              <a:path w="915670" h="442594">
                <a:moveTo>
                  <a:pt x="327710" y="291937"/>
                </a:moveTo>
                <a:lnTo>
                  <a:pt x="251370" y="291937"/>
                </a:lnTo>
                <a:lnTo>
                  <a:pt x="362960" y="42247"/>
                </a:lnTo>
                <a:lnTo>
                  <a:pt x="379306" y="18486"/>
                </a:lnTo>
                <a:lnTo>
                  <a:pt x="403099" y="4141"/>
                </a:lnTo>
                <a:lnTo>
                  <a:pt x="434132" y="0"/>
                </a:lnTo>
                <a:lnTo>
                  <a:pt x="472200" y="6851"/>
                </a:lnTo>
                <a:lnTo>
                  <a:pt x="487525" y="13672"/>
                </a:lnTo>
                <a:lnTo>
                  <a:pt x="498336" y="23590"/>
                </a:lnTo>
                <a:lnTo>
                  <a:pt x="504741" y="37380"/>
                </a:lnTo>
                <a:lnTo>
                  <a:pt x="506852" y="55815"/>
                </a:lnTo>
                <a:lnTo>
                  <a:pt x="433437" y="55815"/>
                </a:lnTo>
                <a:lnTo>
                  <a:pt x="327710" y="291937"/>
                </a:lnTo>
                <a:close/>
              </a:path>
              <a:path w="915670" h="442594">
                <a:moveTo>
                  <a:pt x="253719" y="349898"/>
                </a:moveTo>
                <a:lnTo>
                  <a:pt x="211506" y="340496"/>
                </a:lnTo>
                <a:lnTo>
                  <a:pt x="186472" y="308308"/>
                </a:lnTo>
                <a:lnTo>
                  <a:pt x="72826" y="55815"/>
                </a:lnTo>
                <a:lnTo>
                  <a:pt x="149732" y="55815"/>
                </a:lnTo>
                <a:lnTo>
                  <a:pt x="251370" y="291937"/>
                </a:lnTo>
                <a:lnTo>
                  <a:pt x="327710" y="291937"/>
                </a:lnTo>
                <a:lnTo>
                  <a:pt x="320379" y="308308"/>
                </a:lnTo>
                <a:lnTo>
                  <a:pt x="309303" y="327623"/>
                </a:lnTo>
                <a:lnTo>
                  <a:pt x="295418" y="340496"/>
                </a:lnTo>
                <a:lnTo>
                  <a:pt x="277349" y="347672"/>
                </a:lnTo>
                <a:lnTo>
                  <a:pt x="253719" y="349898"/>
                </a:lnTo>
                <a:close/>
              </a:path>
              <a:path w="915670" h="442594">
                <a:moveTo>
                  <a:pt x="506852" y="345474"/>
                </a:moveTo>
                <a:lnTo>
                  <a:pt x="433437" y="345474"/>
                </a:lnTo>
                <a:lnTo>
                  <a:pt x="433437" y="55815"/>
                </a:lnTo>
                <a:lnTo>
                  <a:pt x="506852" y="55815"/>
                </a:lnTo>
                <a:lnTo>
                  <a:pt x="506852" y="345474"/>
                </a:lnTo>
                <a:close/>
              </a:path>
              <a:path w="915670" h="442594">
                <a:moveTo>
                  <a:pt x="915475" y="298869"/>
                </a:moveTo>
                <a:lnTo>
                  <a:pt x="842061" y="298869"/>
                </a:lnTo>
                <a:lnTo>
                  <a:pt x="842061" y="108614"/>
                </a:lnTo>
                <a:lnTo>
                  <a:pt x="915475" y="108614"/>
                </a:lnTo>
                <a:lnTo>
                  <a:pt x="915475" y="298869"/>
                </a:lnTo>
                <a:close/>
              </a:path>
              <a:path w="915670" h="442594">
                <a:moveTo>
                  <a:pt x="838389" y="442518"/>
                </a:moveTo>
                <a:lnTo>
                  <a:pt x="568960" y="442518"/>
                </a:lnTo>
                <a:lnTo>
                  <a:pt x="568960" y="398715"/>
                </a:lnTo>
                <a:lnTo>
                  <a:pt x="800215" y="398715"/>
                </a:lnTo>
                <a:lnTo>
                  <a:pt x="826507" y="392005"/>
                </a:lnTo>
                <a:lnTo>
                  <a:pt x="838537" y="381533"/>
                </a:lnTo>
                <a:lnTo>
                  <a:pt x="841758" y="370509"/>
                </a:lnTo>
                <a:lnTo>
                  <a:pt x="841732" y="368923"/>
                </a:lnTo>
                <a:lnTo>
                  <a:pt x="841621" y="342966"/>
                </a:lnTo>
                <a:lnTo>
                  <a:pt x="686423" y="342966"/>
                </a:lnTo>
                <a:lnTo>
                  <a:pt x="637400" y="337072"/>
                </a:lnTo>
                <a:lnTo>
                  <a:pt x="599941" y="321913"/>
                </a:lnTo>
                <a:lnTo>
                  <a:pt x="575916" y="299952"/>
                </a:lnTo>
                <a:lnTo>
                  <a:pt x="567198" y="273649"/>
                </a:lnTo>
                <a:lnTo>
                  <a:pt x="567198" y="109794"/>
                </a:lnTo>
                <a:lnTo>
                  <a:pt x="640612" y="109794"/>
                </a:lnTo>
                <a:lnTo>
                  <a:pt x="640612" y="269077"/>
                </a:lnTo>
                <a:lnTo>
                  <a:pt x="641466" y="277382"/>
                </a:lnTo>
                <a:lnTo>
                  <a:pt x="646999" y="287070"/>
                </a:lnTo>
                <a:lnTo>
                  <a:pt x="660352" y="295209"/>
                </a:lnTo>
                <a:lnTo>
                  <a:pt x="684661" y="298869"/>
                </a:lnTo>
                <a:lnTo>
                  <a:pt x="915475" y="298869"/>
                </a:lnTo>
                <a:lnTo>
                  <a:pt x="915475" y="368923"/>
                </a:lnTo>
                <a:lnTo>
                  <a:pt x="902555" y="408212"/>
                </a:lnTo>
                <a:lnTo>
                  <a:pt x="871353" y="432139"/>
                </a:lnTo>
                <a:lnTo>
                  <a:pt x="838389" y="442518"/>
                </a:lnTo>
                <a:close/>
              </a:path>
            </a:pathLst>
          </a:custGeom>
          <a:solidFill>
            <a:srgbClr val="0066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034486" y="6430217"/>
            <a:ext cx="2809874" cy="8477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50" b="0" i="0">
                <a:solidFill>
                  <a:srgbClr val="FFD01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50" b="0" i="0">
                <a:solidFill>
                  <a:srgbClr val="FFD01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9260" y="-62450"/>
            <a:ext cx="17473295" cy="2214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50" b="0" i="0">
                <a:solidFill>
                  <a:srgbClr val="FFD01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0983" y="2443278"/>
            <a:ext cx="8022590" cy="6959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6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918950" cy="10287000"/>
            <a:chOff x="0" y="0"/>
            <a:chExt cx="1191895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9" y="0"/>
              <a:ext cx="1191792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5152109"/>
              <a:ext cx="8590915" cy="1043305"/>
            </a:xfrm>
            <a:custGeom>
              <a:avLst/>
              <a:gdLst/>
              <a:ahLst/>
              <a:cxnLst/>
              <a:rect l="l" t="t" r="r" b="b"/>
              <a:pathLst>
                <a:path w="8590915" h="1043304">
                  <a:moveTo>
                    <a:pt x="8069083" y="1043091"/>
                  </a:moveTo>
                  <a:lnTo>
                    <a:pt x="0" y="1043091"/>
                  </a:lnTo>
                  <a:lnTo>
                    <a:pt x="0" y="0"/>
                  </a:lnTo>
                  <a:lnTo>
                    <a:pt x="8069083" y="0"/>
                  </a:lnTo>
                  <a:lnTo>
                    <a:pt x="8116555" y="2131"/>
                  </a:lnTo>
                  <a:lnTo>
                    <a:pt x="8162832" y="8402"/>
                  </a:lnTo>
                  <a:lnTo>
                    <a:pt x="8207731" y="18630"/>
                  </a:lnTo>
                  <a:lnTo>
                    <a:pt x="8251068" y="32629"/>
                  </a:lnTo>
                  <a:lnTo>
                    <a:pt x="8292658" y="50215"/>
                  </a:lnTo>
                  <a:lnTo>
                    <a:pt x="8332318" y="71206"/>
                  </a:lnTo>
                  <a:lnTo>
                    <a:pt x="8369863" y="95415"/>
                  </a:lnTo>
                  <a:lnTo>
                    <a:pt x="8405109" y="122660"/>
                  </a:lnTo>
                  <a:lnTo>
                    <a:pt x="8437872" y="152757"/>
                  </a:lnTo>
                  <a:lnTo>
                    <a:pt x="8467968" y="185520"/>
                  </a:lnTo>
                  <a:lnTo>
                    <a:pt x="8495213" y="220766"/>
                  </a:lnTo>
                  <a:lnTo>
                    <a:pt x="8519423" y="258311"/>
                  </a:lnTo>
                  <a:lnTo>
                    <a:pt x="8540413" y="297971"/>
                  </a:lnTo>
                  <a:lnTo>
                    <a:pt x="8558000" y="339561"/>
                  </a:lnTo>
                  <a:lnTo>
                    <a:pt x="8571999" y="382898"/>
                  </a:lnTo>
                  <a:lnTo>
                    <a:pt x="8582226" y="427797"/>
                  </a:lnTo>
                  <a:lnTo>
                    <a:pt x="8588498" y="474074"/>
                  </a:lnTo>
                  <a:lnTo>
                    <a:pt x="8590629" y="521545"/>
                  </a:lnTo>
                  <a:lnTo>
                    <a:pt x="8588498" y="569017"/>
                  </a:lnTo>
                  <a:lnTo>
                    <a:pt x="8582226" y="615294"/>
                  </a:lnTo>
                  <a:lnTo>
                    <a:pt x="8571999" y="660193"/>
                  </a:lnTo>
                  <a:lnTo>
                    <a:pt x="8558000" y="703529"/>
                  </a:lnTo>
                  <a:lnTo>
                    <a:pt x="8540413" y="745120"/>
                  </a:lnTo>
                  <a:lnTo>
                    <a:pt x="8519423" y="784779"/>
                  </a:lnTo>
                  <a:lnTo>
                    <a:pt x="8495213" y="822324"/>
                  </a:lnTo>
                  <a:lnTo>
                    <a:pt x="8467968" y="857570"/>
                  </a:lnTo>
                  <a:lnTo>
                    <a:pt x="8437872" y="890334"/>
                  </a:lnTo>
                  <a:lnTo>
                    <a:pt x="8405109" y="920430"/>
                  </a:lnTo>
                  <a:lnTo>
                    <a:pt x="8369863" y="947675"/>
                  </a:lnTo>
                  <a:lnTo>
                    <a:pt x="8332318" y="971884"/>
                  </a:lnTo>
                  <a:lnTo>
                    <a:pt x="8292658" y="992875"/>
                  </a:lnTo>
                  <a:lnTo>
                    <a:pt x="8251068" y="1010461"/>
                  </a:lnTo>
                  <a:lnTo>
                    <a:pt x="8207731" y="1024461"/>
                  </a:lnTo>
                  <a:lnTo>
                    <a:pt x="8162832" y="1034688"/>
                  </a:lnTo>
                  <a:lnTo>
                    <a:pt x="8116555" y="1040959"/>
                  </a:lnTo>
                  <a:lnTo>
                    <a:pt x="8069083" y="1043091"/>
                  </a:lnTo>
                  <a:close/>
                </a:path>
              </a:pathLst>
            </a:custGeom>
            <a:solidFill>
              <a:srgbClr val="FFD0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75523" y="3201387"/>
            <a:ext cx="1373328" cy="137332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80137" y="2250734"/>
            <a:ext cx="678352" cy="67835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817480" y="8591039"/>
            <a:ext cx="424911" cy="42491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259298" y="7568758"/>
            <a:ext cx="908411" cy="90841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997603" y="8234561"/>
            <a:ext cx="1196290" cy="119629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470244" y="9000105"/>
            <a:ext cx="739535" cy="739536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4735384" y="6990536"/>
            <a:ext cx="6336030" cy="2749550"/>
            <a:chOff x="4735384" y="6990536"/>
            <a:chExt cx="6336030" cy="2749550"/>
          </a:xfrm>
        </p:grpSpPr>
        <p:sp>
          <p:nvSpPr>
            <p:cNvPr id="16" name="object 16"/>
            <p:cNvSpPr/>
            <p:nvPr/>
          </p:nvSpPr>
          <p:spPr>
            <a:xfrm>
              <a:off x="4735384" y="6990536"/>
              <a:ext cx="6336030" cy="2749550"/>
            </a:xfrm>
            <a:custGeom>
              <a:avLst/>
              <a:gdLst/>
              <a:ahLst/>
              <a:cxnLst/>
              <a:rect l="l" t="t" r="r" b="b"/>
              <a:pathLst>
                <a:path w="6336030" h="2749550">
                  <a:moveTo>
                    <a:pt x="4755112" y="2749105"/>
                  </a:moveTo>
                  <a:lnTo>
                    <a:pt x="1585025" y="2749105"/>
                  </a:lnTo>
                  <a:lnTo>
                    <a:pt x="1533736" y="2748399"/>
                  </a:lnTo>
                  <a:lnTo>
                    <a:pt x="1482845" y="2746294"/>
                  </a:lnTo>
                  <a:lnTo>
                    <a:pt x="1432385" y="2742813"/>
                  </a:lnTo>
                  <a:lnTo>
                    <a:pt x="1382381" y="2737975"/>
                  </a:lnTo>
                  <a:lnTo>
                    <a:pt x="1332858" y="2731804"/>
                  </a:lnTo>
                  <a:lnTo>
                    <a:pt x="1283841" y="2724320"/>
                  </a:lnTo>
                  <a:lnTo>
                    <a:pt x="1235353" y="2715544"/>
                  </a:lnTo>
                  <a:lnTo>
                    <a:pt x="1187420" y="2705497"/>
                  </a:lnTo>
                  <a:lnTo>
                    <a:pt x="1140066" y="2694202"/>
                  </a:lnTo>
                  <a:lnTo>
                    <a:pt x="1093316" y="2681679"/>
                  </a:lnTo>
                  <a:lnTo>
                    <a:pt x="1047194" y="2667950"/>
                  </a:lnTo>
                  <a:lnTo>
                    <a:pt x="1001725" y="2653036"/>
                  </a:lnTo>
                  <a:lnTo>
                    <a:pt x="956934" y="2636958"/>
                  </a:lnTo>
                  <a:lnTo>
                    <a:pt x="912845" y="2619738"/>
                  </a:lnTo>
                  <a:lnTo>
                    <a:pt x="869483" y="2601398"/>
                  </a:lnTo>
                  <a:lnTo>
                    <a:pt x="826872" y="2581957"/>
                  </a:lnTo>
                  <a:lnTo>
                    <a:pt x="785037" y="2561438"/>
                  </a:lnTo>
                  <a:lnTo>
                    <a:pt x="744002" y="2539862"/>
                  </a:lnTo>
                  <a:lnTo>
                    <a:pt x="703793" y="2517251"/>
                  </a:lnTo>
                  <a:lnTo>
                    <a:pt x="664434" y="2493626"/>
                  </a:lnTo>
                  <a:lnTo>
                    <a:pt x="625949" y="2469007"/>
                  </a:lnTo>
                  <a:lnTo>
                    <a:pt x="588362" y="2443417"/>
                  </a:lnTo>
                  <a:lnTo>
                    <a:pt x="551700" y="2416876"/>
                  </a:lnTo>
                  <a:lnTo>
                    <a:pt x="515985" y="2389407"/>
                  </a:lnTo>
                  <a:lnTo>
                    <a:pt x="481244" y="2361030"/>
                  </a:lnTo>
                  <a:lnTo>
                    <a:pt x="447500" y="2331767"/>
                  </a:lnTo>
                  <a:lnTo>
                    <a:pt x="414777" y="2301639"/>
                  </a:lnTo>
                  <a:lnTo>
                    <a:pt x="383102" y="2270667"/>
                  </a:lnTo>
                  <a:lnTo>
                    <a:pt x="352497" y="2238873"/>
                  </a:lnTo>
                  <a:lnTo>
                    <a:pt x="322988" y="2206278"/>
                  </a:lnTo>
                  <a:lnTo>
                    <a:pt x="294600" y="2172903"/>
                  </a:lnTo>
                  <a:lnTo>
                    <a:pt x="267357" y="2138770"/>
                  </a:lnTo>
                  <a:lnTo>
                    <a:pt x="241283" y="2103901"/>
                  </a:lnTo>
                  <a:lnTo>
                    <a:pt x="216403" y="2068315"/>
                  </a:lnTo>
                  <a:lnTo>
                    <a:pt x="192742" y="2032036"/>
                  </a:lnTo>
                  <a:lnTo>
                    <a:pt x="170325" y="1995083"/>
                  </a:lnTo>
                  <a:lnTo>
                    <a:pt x="149176" y="1957479"/>
                  </a:lnTo>
                  <a:lnTo>
                    <a:pt x="129319" y="1919245"/>
                  </a:lnTo>
                  <a:lnTo>
                    <a:pt x="110779" y="1880401"/>
                  </a:lnTo>
                  <a:lnTo>
                    <a:pt x="93581" y="1840971"/>
                  </a:lnTo>
                  <a:lnTo>
                    <a:pt x="77750" y="1800974"/>
                  </a:lnTo>
                  <a:lnTo>
                    <a:pt x="63309" y="1760431"/>
                  </a:lnTo>
                  <a:lnTo>
                    <a:pt x="50285" y="1719366"/>
                  </a:lnTo>
                  <a:lnTo>
                    <a:pt x="38700" y="1677798"/>
                  </a:lnTo>
                  <a:lnTo>
                    <a:pt x="28580" y="1635749"/>
                  </a:lnTo>
                  <a:lnTo>
                    <a:pt x="19950" y="1593241"/>
                  </a:lnTo>
                  <a:lnTo>
                    <a:pt x="12833" y="1550294"/>
                  </a:lnTo>
                  <a:lnTo>
                    <a:pt x="7255" y="1506931"/>
                  </a:lnTo>
                  <a:lnTo>
                    <a:pt x="3241" y="1463172"/>
                  </a:lnTo>
                  <a:lnTo>
                    <a:pt x="814" y="1419038"/>
                  </a:lnTo>
                  <a:lnTo>
                    <a:pt x="0" y="1374552"/>
                  </a:lnTo>
                  <a:lnTo>
                    <a:pt x="814" y="1330066"/>
                  </a:lnTo>
                  <a:lnTo>
                    <a:pt x="3241" y="1285933"/>
                  </a:lnTo>
                  <a:lnTo>
                    <a:pt x="7255" y="1242173"/>
                  </a:lnTo>
                  <a:lnTo>
                    <a:pt x="12833" y="1198810"/>
                  </a:lnTo>
                  <a:lnTo>
                    <a:pt x="19950" y="1155863"/>
                  </a:lnTo>
                  <a:lnTo>
                    <a:pt x="28580" y="1113355"/>
                  </a:lnTo>
                  <a:lnTo>
                    <a:pt x="38700" y="1071306"/>
                  </a:lnTo>
                  <a:lnTo>
                    <a:pt x="50285" y="1029738"/>
                  </a:lnTo>
                  <a:lnTo>
                    <a:pt x="63309" y="988673"/>
                  </a:lnTo>
                  <a:lnTo>
                    <a:pt x="77750" y="948131"/>
                  </a:lnTo>
                  <a:lnTo>
                    <a:pt x="93581" y="908134"/>
                  </a:lnTo>
                  <a:lnTo>
                    <a:pt x="110779" y="868703"/>
                  </a:lnTo>
                  <a:lnTo>
                    <a:pt x="129319" y="829860"/>
                  </a:lnTo>
                  <a:lnTo>
                    <a:pt x="149176" y="791625"/>
                  </a:lnTo>
                  <a:lnTo>
                    <a:pt x="170325" y="754021"/>
                  </a:lnTo>
                  <a:lnTo>
                    <a:pt x="192742" y="717069"/>
                  </a:lnTo>
                  <a:lnTo>
                    <a:pt x="216403" y="680789"/>
                  </a:lnTo>
                  <a:lnTo>
                    <a:pt x="241283" y="645204"/>
                  </a:lnTo>
                  <a:lnTo>
                    <a:pt x="267357" y="610334"/>
                  </a:lnTo>
                  <a:lnTo>
                    <a:pt x="294600" y="576201"/>
                  </a:lnTo>
                  <a:lnTo>
                    <a:pt x="322988" y="542827"/>
                  </a:lnTo>
                  <a:lnTo>
                    <a:pt x="352497" y="510232"/>
                  </a:lnTo>
                  <a:lnTo>
                    <a:pt x="383102" y="478438"/>
                  </a:lnTo>
                  <a:lnTo>
                    <a:pt x="414777" y="447466"/>
                  </a:lnTo>
                  <a:lnTo>
                    <a:pt x="447500" y="417338"/>
                  </a:lnTo>
                  <a:lnTo>
                    <a:pt x="481244" y="388074"/>
                  </a:lnTo>
                  <a:lnTo>
                    <a:pt x="515985" y="359697"/>
                  </a:lnTo>
                  <a:lnTo>
                    <a:pt x="551700" y="332228"/>
                  </a:lnTo>
                  <a:lnTo>
                    <a:pt x="588362" y="305688"/>
                  </a:lnTo>
                  <a:lnTo>
                    <a:pt x="625949" y="280097"/>
                  </a:lnTo>
                  <a:lnTo>
                    <a:pt x="664434" y="255479"/>
                  </a:lnTo>
                  <a:lnTo>
                    <a:pt x="703793" y="231853"/>
                  </a:lnTo>
                  <a:lnTo>
                    <a:pt x="744002" y="209242"/>
                  </a:lnTo>
                  <a:lnTo>
                    <a:pt x="785037" y="187666"/>
                  </a:lnTo>
                  <a:lnTo>
                    <a:pt x="826872" y="167147"/>
                  </a:lnTo>
                  <a:lnTo>
                    <a:pt x="869483" y="147707"/>
                  </a:lnTo>
                  <a:lnTo>
                    <a:pt x="912845" y="129366"/>
                  </a:lnTo>
                  <a:lnTo>
                    <a:pt x="956934" y="112146"/>
                  </a:lnTo>
                  <a:lnTo>
                    <a:pt x="1001725" y="96068"/>
                  </a:lnTo>
                  <a:lnTo>
                    <a:pt x="1047194" y="81154"/>
                  </a:lnTo>
                  <a:lnTo>
                    <a:pt x="1093316" y="67425"/>
                  </a:lnTo>
                  <a:lnTo>
                    <a:pt x="1140066" y="54902"/>
                  </a:lnTo>
                  <a:lnTo>
                    <a:pt x="1187420" y="43607"/>
                  </a:lnTo>
                  <a:lnTo>
                    <a:pt x="1235353" y="33561"/>
                  </a:lnTo>
                  <a:lnTo>
                    <a:pt x="1283841" y="24785"/>
                  </a:lnTo>
                  <a:lnTo>
                    <a:pt x="1332858" y="17300"/>
                  </a:lnTo>
                  <a:lnTo>
                    <a:pt x="1382381" y="11129"/>
                  </a:lnTo>
                  <a:lnTo>
                    <a:pt x="1432385" y="6292"/>
                  </a:lnTo>
                  <a:lnTo>
                    <a:pt x="1482845" y="2810"/>
                  </a:lnTo>
                  <a:lnTo>
                    <a:pt x="1533736" y="706"/>
                  </a:lnTo>
                  <a:lnTo>
                    <a:pt x="1585034" y="0"/>
                  </a:lnTo>
                  <a:lnTo>
                    <a:pt x="4755103" y="0"/>
                  </a:lnTo>
                  <a:lnTo>
                    <a:pt x="4806401" y="706"/>
                  </a:lnTo>
                  <a:lnTo>
                    <a:pt x="4857292" y="2810"/>
                  </a:lnTo>
                  <a:lnTo>
                    <a:pt x="4907752" y="6292"/>
                  </a:lnTo>
                  <a:lnTo>
                    <a:pt x="4957756" y="11129"/>
                  </a:lnTo>
                  <a:lnTo>
                    <a:pt x="5007279" y="17300"/>
                  </a:lnTo>
                  <a:lnTo>
                    <a:pt x="5056296" y="24785"/>
                  </a:lnTo>
                  <a:lnTo>
                    <a:pt x="5104784" y="33561"/>
                  </a:lnTo>
                  <a:lnTo>
                    <a:pt x="5152717" y="43607"/>
                  </a:lnTo>
                  <a:lnTo>
                    <a:pt x="5200071" y="54902"/>
                  </a:lnTo>
                  <a:lnTo>
                    <a:pt x="5246821" y="67425"/>
                  </a:lnTo>
                  <a:lnTo>
                    <a:pt x="5292943" y="81154"/>
                  </a:lnTo>
                  <a:lnTo>
                    <a:pt x="5338411" y="96068"/>
                  </a:lnTo>
                  <a:lnTo>
                    <a:pt x="5383203" y="112146"/>
                  </a:lnTo>
                  <a:lnTo>
                    <a:pt x="5427292" y="129366"/>
                  </a:lnTo>
                  <a:lnTo>
                    <a:pt x="5470654" y="147707"/>
                  </a:lnTo>
                  <a:lnTo>
                    <a:pt x="5513265" y="167147"/>
                  </a:lnTo>
                  <a:lnTo>
                    <a:pt x="5555100" y="187666"/>
                  </a:lnTo>
                  <a:lnTo>
                    <a:pt x="5596134" y="209242"/>
                  </a:lnTo>
                  <a:lnTo>
                    <a:pt x="5636344" y="231853"/>
                  </a:lnTo>
                  <a:lnTo>
                    <a:pt x="5675703" y="255479"/>
                  </a:lnTo>
                  <a:lnTo>
                    <a:pt x="5714188" y="280097"/>
                  </a:lnTo>
                  <a:lnTo>
                    <a:pt x="5751774" y="305688"/>
                  </a:lnTo>
                  <a:lnTo>
                    <a:pt x="5788437" y="332228"/>
                  </a:lnTo>
                  <a:lnTo>
                    <a:pt x="5824151" y="359697"/>
                  </a:lnTo>
                  <a:lnTo>
                    <a:pt x="5858893" y="388074"/>
                  </a:lnTo>
                  <a:lnTo>
                    <a:pt x="5892637" y="417338"/>
                  </a:lnTo>
                  <a:lnTo>
                    <a:pt x="5925360" y="447466"/>
                  </a:lnTo>
                  <a:lnTo>
                    <a:pt x="5957035" y="478438"/>
                  </a:lnTo>
                  <a:lnTo>
                    <a:pt x="5987640" y="510232"/>
                  </a:lnTo>
                  <a:lnTo>
                    <a:pt x="6017149" y="542827"/>
                  </a:lnTo>
                  <a:lnTo>
                    <a:pt x="6045537" y="576201"/>
                  </a:lnTo>
                  <a:lnTo>
                    <a:pt x="6072780" y="610334"/>
                  </a:lnTo>
                  <a:lnTo>
                    <a:pt x="6098854" y="645204"/>
                  </a:lnTo>
                  <a:lnTo>
                    <a:pt x="6123734" y="680789"/>
                  </a:lnTo>
                  <a:lnTo>
                    <a:pt x="6147395" y="717069"/>
                  </a:lnTo>
                  <a:lnTo>
                    <a:pt x="6169812" y="754021"/>
                  </a:lnTo>
                  <a:lnTo>
                    <a:pt x="6190961" y="791625"/>
                  </a:lnTo>
                  <a:lnTo>
                    <a:pt x="6210818" y="829860"/>
                  </a:lnTo>
                  <a:lnTo>
                    <a:pt x="6229358" y="868703"/>
                  </a:lnTo>
                  <a:lnTo>
                    <a:pt x="6246556" y="908134"/>
                  </a:lnTo>
                  <a:lnTo>
                    <a:pt x="6262387" y="948131"/>
                  </a:lnTo>
                  <a:lnTo>
                    <a:pt x="6276828" y="988673"/>
                  </a:lnTo>
                  <a:lnTo>
                    <a:pt x="6289852" y="1029738"/>
                  </a:lnTo>
                  <a:lnTo>
                    <a:pt x="6301437" y="1071306"/>
                  </a:lnTo>
                  <a:lnTo>
                    <a:pt x="6311557" y="1113355"/>
                  </a:lnTo>
                  <a:lnTo>
                    <a:pt x="6320187" y="1155863"/>
                  </a:lnTo>
                  <a:lnTo>
                    <a:pt x="6327304" y="1198810"/>
                  </a:lnTo>
                  <a:lnTo>
                    <a:pt x="6332882" y="1242173"/>
                  </a:lnTo>
                  <a:lnTo>
                    <a:pt x="6335828" y="1274292"/>
                  </a:lnTo>
                  <a:lnTo>
                    <a:pt x="6335828" y="1474812"/>
                  </a:lnTo>
                  <a:lnTo>
                    <a:pt x="6327304" y="1550294"/>
                  </a:lnTo>
                  <a:lnTo>
                    <a:pt x="6320187" y="1593241"/>
                  </a:lnTo>
                  <a:lnTo>
                    <a:pt x="6311557" y="1635749"/>
                  </a:lnTo>
                  <a:lnTo>
                    <a:pt x="6301437" y="1677798"/>
                  </a:lnTo>
                  <a:lnTo>
                    <a:pt x="6289852" y="1719366"/>
                  </a:lnTo>
                  <a:lnTo>
                    <a:pt x="6276828" y="1760431"/>
                  </a:lnTo>
                  <a:lnTo>
                    <a:pt x="6262387" y="1800974"/>
                  </a:lnTo>
                  <a:lnTo>
                    <a:pt x="6246556" y="1840971"/>
                  </a:lnTo>
                  <a:lnTo>
                    <a:pt x="6229358" y="1880401"/>
                  </a:lnTo>
                  <a:lnTo>
                    <a:pt x="6210818" y="1919245"/>
                  </a:lnTo>
                  <a:lnTo>
                    <a:pt x="6190961" y="1957479"/>
                  </a:lnTo>
                  <a:lnTo>
                    <a:pt x="6169812" y="1995083"/>
                  </a:lnTo>
                  <a:lnTo>
                    <a:pt x="6147395" y="2032036"/>
                  </a:lnTo>
                  <a:lnTo>
                    <a:pt x="6123734" y="2068315"/>
                  </a:lnTo>
                  <a:lnTo>
                    <a:pt x="6098854" y="2103901"/>
                  </a:lnTo>
                  <a:lnTo>
                    <a:pt x="6072780" y="2138770"/>
                  </a:lnTo>
                  <a:lnTo>
                    <a:pt x="6045537" y="2172903"/>
                  </a:lnTo>
                  <a:lnTo>
                    <a:pt x="6017149" y="2206278"/>
                  </a:lnTo>
                  <a:lnTo>
                    <a:pt x="5987640" y="2238873"/>
                  </a:lnTo>
                  <a:lnTo>
                    <a:pt x="5957035" y="2270667"/>
                  </a:lnTo>
                  <a:lnTo>
                    <a:pt x="5925360" y="2301639"/>
                  </a:lnTo>
                  <a:lnTo>
                    <a:pt x="5892637" y="2331767"/>
                  </a:lnTo>
                  <a:lnTo>
                    <a:pt x="5858893" y="2361030"/>
                  </a:lnTo>
                  <a:lnTo>
                    <a:pt x="5824151" y="2389407"/>
                  </a:lnTo>
                  <a:lnTo>
                    <a:pt x="5788437" y="2416876"/>
                  </a:lnTo>
                  <a:lnTo>
                    <a:pt x="5751774" y="2443417"/>
                  </a:lnTo>
                  <a:lnTo>
                    <a:pt x="5714188" y="2469007"/>
                  </a:lnTo>
                  <a:lnTo>
                    <a:pt x="5675703" y="2493626"/>
                  </a:lnTo>
                  <a:lnTo>
                    <a:pt x="5636344" y="2517251"/>
                  </a:lnTo>
                  <a:lnTo>
                    <a:pt x="5596134" y="2539862"/>
                  </a:lnTo>
                  <a:lnTo>
                    <a:pt x="5555100" y="2561438"/>
                  </a:lnTo>
                  <a:lnTo>
                    <a:pt x="5513265" y="2581957"/>
                  </a:lnTo>
                  <a:lnTo>
                    <a:pt x="5470654" y="2601398"/>
                  </a:lnTo>
                  <a:lnTo>
                    <a:pt x="5427292" y="2619738"/>
                  </a:lnTo>
                  <a:lnTo>
                    <a:pt x="5383203" y="2636958"/>
                  </a:lnTo>
                  <a:lnTo>
                    <a:pt x="5338411" y="2653036"/>
                  </a:lnTo>
                  <a:lnTo>
                    <a:pt x="5292943" y="2667950"/>
                  </a:lnTo>
                  <a:lnTo>
                    <a:pt x="5246821" y="2681679"/>
                  </a:lnTo>
                  <a:lnTo>
                    <a:pt x="5200071" y="2694202"/>
                  </a:lnTo>
                  <a:lnTo>
                    <a:pt x="5152717" y="2705497"/>
                  </a:lnTo>
                  <a:lnTo>
                    <a:pt x="5104784" y="2715544"/>
                  </a:lnTo>
                  <a:lnTo>
                    <a:pt x="5056296" y="2724320"/>
                  </a:lnTo>
                  <a:lnTo>
                    <a:pt x="5007279" y="2731804"/>
                  </a:lnTo>
                  <a:lnTo>
                    <a:pt x="4957756" y="2737975"/>
                  </a:lnTo>
                  <a:lnTo>
                    <a:pt x="4907752" y="2742813"/>
                  </a:lnTo>
                  <a:lnTo>
                    <a:pt x="4857292" y="2746294"/>
                  </a:lnTo>
                  <a:lnTo>
                    <a:pt x="4806401" y="2748399"/>
                  </a:lnTo>
                  <a:lnTo>
                    <a:pt x="4755112" y="2749105"/>
                  </a:lnTo>
                  <a:close/>
                </a:path>
              </a:pathLst>
            </a:custGeom>
            <a:solidFill>
              <a:srgbClr val="FFD0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23574" y="7666657"/>
              <a:ext cx="71789" cy="7178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23574" y="8007660"/>
              <a:ext cx="71789" cy="7178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723574" y="8348662"/>
              <a:ext cx="71789" cy="7178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23574" y="8689664"/>
              <a:ext cx="71789" cy="71789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750644" y="676707"/>
            <a:ext cx="16066836" cy="166250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16900"/>
              </a:lnSpc>
              <a:spcBef>
                <a:spcPts val="90"/>
              </a:spcBef>
            </a:pPr>
            <a:r>
              <a:rPr lang="en-IN" sz="10000" spc="-320" dirty="0">
                <a:solidFill>
                  <a:srgbClr val="ECBE00"/>
                </a:solidFill>
              </a:rPr>
              <a:t>ADVENTURE WORKS</a:t>
            </a:r>
            <a:endParaRPr sz="10000" dirty="0"/>
          </a:p>
        </p:txBody>
      </p:sp>
      <p:sp>
        <p:nvSpPr>
          <p:cNvPr id="23" name="object 23"/>
          <p:cNvSpPr txBox="1"/>
          <p:nvPr/>
        </p:nvSpPr>
        <p:spPr>
          <a:xfrm>
            <a:off x="2377470" y="5313483"/>
            <a:ext cx="5267325" cy="648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469130" algn="l"/>
              </a:tabLst>
            </a:pPr>
            <a:r>
              <a:rPr sz="4050" dirty="0">
                <a:solidFill>
                  <a:srgbClr val="002960"/>
                </a:solidFill>
                <a:latin typeface="Arial MT"/>
                <a:cs typeface="Arial MT"/>
              </a:rPr>
              <a:t>P</a:t>
            </a:r>
            <a:r>
              <a:rPr sz="4050" spc="-295" dirty="0">
                <a:solidFill>
                  <a:srgbClr val="002960"/>
                </a:solidFill>
                <a:latin typeface="Arial MT"/>
                <a:cs typeface="Arial MT"/>
              </a:rPr>
              <a:t> </a:t>
            </a:r>
            <a:r>
              <a:rPr sz="4050" dirty="0">
                <a:solidFill>
                  <a:srgbClr val="002960"/>
                </a:solidFill>
                <a:latin typeface="Arial MT"/>
                <a:cs typeface="Arial MT"/>
              </a:rPr>
              <a:t>R</a:t>
            </a:r>
            <a:r>
              <a:rPr sz="4050" spc="-110" dirty="0">
                <a:solidFill>
                  <a:srgbClr val="002960"/>
                </a:solidFill>
                <a:latin typeface="Arial MT"/>
                <a:cs typeface="Arial MT"/>
              </a:rPr>
              <a:t> </a:t>
            </a:r>
            <a:r>
              <a:rPr sz="4050" spc="-300" dirty="0">
                <a:solidFill>
                  <a:srgbClr val="002960"/>
                </a:solidFill>
                <a:latin typeface="Arial MT"/>
                <a:cs typeface="Arial MT"/>
              </a:rPr>
              <a:t>E</a:t>
            </a:r>
            <a:r>
              <a:rPr sz="4050" spc="-20" dirty="0">
                <a:solidFill>
                  <a:srgbClr val="002960"/>
                </a:solidFill>
                <a:latin typeface="Arial MT"/>
                <a:cs typeface="Arial MT"/>
              </a:rPr>
              <a:t> </a:t>
            </a:r>
            <a:r>
              <a:rPr sz="4050" spc="-490" dirty="0">
                <a:solidFill>
                  <a:srgbClr val="002960"/>
                </a:solidFill>
                <a:latin typeface="Arial MT"/>
                <a:cs typeface="Arial MT"/>
              </a:rPr>
              <a:t>S</a:t>
            </a:r>
            <a:r>
              <a:rPr sz="4050" spc="-25" dirty="0">
                <a:solidFill>
                  <a:srgbClr val="002960"/>
                </a:solidFill>
                <a:latin typeface="Arial MT"/>
                <a:cs typeface="Arial MT"/>
              </a:rPr>
              <a:t> </a:t>
            </a:r>
            <a:r>
              <a:rPr sz="4050" spc="-300" dirty="0">
                <a:solidFill>
                  <a:srgbClr val="002960"/>
                </a:solidFill>
                <a:latin typeface="Arial MT"/>
                <a:cs typeface="Arial MT"/>
              </a:rPr>
              <a:t>E</a:t>
            </a:r>
            <a:r>
              <a:rPr sz="4050" spc="-30" dirty="0">
                <a:solidFill>
                  <a:srgbClr val="002960"/>
                </a:solidFill>
                <a:latin typeface="Arial MT"/>
                <a:cs typeface="Arial MT"/>
              </a:rPr>
              <a:t> </a:t>
            </a:r>
            <a:r>
              <a:rPr sz="4050" spc="55" dirty="0">
                <a:solidFill>
                  <a:srgbClr val="002960"/>
                </a:solidFill>
                <a:latin typeface="Arial MT"/>
                <a:cs typeface="Arial MT"/>
              </a:rPr>
              <a:t>N</a:t>
            </a:r>
            <a:r>
              <a:rPr sz="4050" spc="-80" dirty="0">
                <a:solidFill>
                  <a:srgbClr val="002960"/>
                </a:solidFill>
                <a:latin typeface="Arial MT"/>
                <a:cs typeface="Arial MT"/>
              </a:rPr>
              <a:t> </a:t>
            </a:r>
            <a:r>
              <a:rPr sz="4050" dirty="0">
                <a:solidFill>
                  <a:srgbClr val="002960"/>
                </a:solidFill>
                <a:latin typeface="Arial MT"/>
                <a:cs typeface="Arial MT"/>
              </a:rPr>
              <a:t>T</a:t>
            </a:r>
            <a:r>
              <a:rPr sz="4050" spc="-85" dirty="0">
                <a:solidFill>
                  <a:srgbClr val="002960"/>
                </a:solidFill>
                <a:latin typeface="Arial MT"/>
                <a:cs typeface="Arial MT"/>
              </a:rPr>
              <a:t> </a:t>
            </a:r>
            <a:r>
              <a:rPr sz="4050" spc="-300" dirty="0">
                <a:solidFill>
                  <a:srgbClr val="002960"/>
                </a:solidFill>
                <a:latin typeface="Arial MT"/>
                <a:cs typeface="Arial MT"/>
              </a:rPr>
              <a:t>E</a:t>
            </a:r>
            <a:r>
              <a:rPr sz="4050" spc="-20" dirty="0">
                <a:solidFill>
                  <a:srgbClr val="002960"/>
                </a:solidFill>
                <a:latin typeface="Arial MT"/>
                <a:cs typeface="Arial MT"/>
              </a:rPr>
              <a:t> </a:t>
            </a:r>
            <a:r>
              <a:rPr sz="4050" spc="-50" dirty="0">
                <a:solidFill>
                  <a:srgbClr val="002960"/>
                </a:solidFill>
                <a:latin typeface="Arial MT"/>
                <a:cs typeface="Arial MT"/>
              </a:rPr>
              <a:t>D</a:t>
            </a:r>
            <a:r>
              <a:rPr sz="4050" dirty="0">
                <a:solidFill>
                  <a:srgbClr val="002960"/>
                </a:solidFill>
                <a:latin typeface="Arial MT"/>
                <a:cs typeface="Arial MT"/>
              </a:rPr>
              <a:t>	B</a:t>
            </a:r>
            <a:r>
              <a:rPr sz="4050" spc="-215" dirty="0">
                <a:solidFill>
                  <a:srgbClr val="002960"/>
                </a:solidFill>
                <a:latin typeface="Arial MT"/>
                <a:cs typeface="Arial MT"/>
              </a:rPr>
              <a:t> </a:t>
            </a:r>
            <a:r>
              <a:rPr sz="4050" spc="-85" dirty="0">
                <a:solidFill>
                  <a:srgbClr val="002960"/>
                </a:solidFill>
                <a:latin typeface="Arial MT"/>
                <a:cs typeface="Arial MT"/>
              </a:rPr>
              <a:t>Y</a:t>
            </a:r>
            <a:endParaRPr sz="40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914887" y="7469978"/>
            <a:ext cx="4426585" cy="1760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700"/>
              </a:lnSpc>
              <a:spcBef>
                <a:spcPts val="100"/>
              </a:spcBef>
              <a:tabLst>
                <a:tab pos="1736089" algn="l"/>
                <a:tab pos="2709545" algn="l"/>
                <a:tab pos="3137535" algn="l"/>
              </a:tabLst>
            </a:pPr>
            <a:r>
              <a:rPr lang="en-IN" sz="1950" spc="95" dirty="0">
                <a:solidFill>
                  <a:srgbClr val="002960"/>
                </a:solidFill>
                <a:latin typeface="Arial MT"/>
              </a:rPr>
              <a:t>Manish Kumar</a:t>
            </a:r>
          </a:p>
          <a:p>
            <a:pPr marL="12700" marR="5080">
              <a:lnSpc>
                <a:spcPct val="114700"/>
              </a:lnSpc>
              <a:spcBef>
                <a:spcPts val="100"/>
              </a:spcBef>
              <a:tabLst>
                <a:tab pos="1736089" algn="l"/>
                <a:tab pos="2709545" algn="l"/>
                <a:tab pos="3137535" algn="l"/>
              </a:tabLst>
            </a:pPr>
            <a:r>
              <a:rPr lang="en-IN" sz="1950" spc="95" dirty="0">
                <a:solidFill>
                  <a:srgbClr val="002960"/>
                </a:solidFill>
                <a:latin typeface="Arial MT"/>
              </a:rPr>
              <a:t>Kavya V</a:t>
            </a:r>
          </a:p>
          <a:p>
            <a:pPr marL="12700" marR="5080">
              <a:lnSpc>
                <a:spcPct val="114700"/>
              </a:lnSpc>
              <a:spcBef>
                <a:spcPts val="100"/>
              </a:spcBef>
              <a:tabLst>
                <a:tab pos="1736089" algn="l"/>
                <a:tab pos="2709545" algn="l"/>
                <a:tab pos="3137535" algn="l"/>
              </a:tabLst>
            </a:pPr>
            <a:r>
              <a:rPr lang="en-IN" sz="1950" spc="95" dirty="0">
                <a:solidFill>
                  <a:srgbClr val="002960"/>
                </a:solidFill>
                <a:latin typeface="Arial MT"/>
              </a:rPr>
              <a:t>Anusha Dasari</a:t>
            </a:r>
          </a:p>
          <a:p>
            <a:pPr marL="12700" marR="5080">
              <a:lnSpc>
                <a:spcPct val="114700"/>
              </a:lnSpc>
              <a:spcBef>
                <a:spcPts val="100"/>
              </a:spcBef>
              <a:tabLst>
                <a:tab pos="1736089" algn="l"/>
                <a:tab pos="2709545" algn="l"/>
                <a:tab pos="3137535" algn="l"/>
              </a:tabLst>
            </a:pPr>
            <a:r>
              <a:rPr lang="en-IN" sz="1950" spc="95" dirty="0">
                <a:solidFill>
                  <a:srgbClr val="002960"/>
                </a:solidFill>
                <a:latin typeface="Arial MT"/>
              </a:rPr>
              <a:t>Kavya Patil</a:t>
            </a:r>
          </a:p>
          <a:p>
            <a:pPr marL="12700" marR="5080">
              <a:lnSpc>
                <a:spcPct val="114700"/>
              </a:lnSpc>
              <a:spcBef>
                <a:spcPts val="100"/>
              </a:spcBef>
              <a:tabLst>
                <a:tab pos="1736089" algn="l"/>
                <a:tab pos="2709545" algn="l"/>
                <a:tab pos="3137535" algn="l"/>
              </a:tabLst>
            </a:pPr>
            <a:endParaRPr sz="1950" spc="95" dirty="0">
              <a:solidFill>
                <a:srgbClr val="002960"/>
              </a:solidFill>
              <a:latin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48150" y="12701"/>
            <a:ext cx="18564750" cy="102742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141222" y="-62449"/>
            <a:ext cx="17973777" cy="1251039"/>
          </a:xfrm>
          <a:prstGeom prst="rect">
            <a:avLst/>
          </a:prstGeom>
        </p:spPr>
        <p:txBody>
          <a:bodyPr vert="horz" wrap="square" lIns="0" tIns="568380" rIns="0" bIns="0" rtlCol="0">
            <a:spAutoFit/>
          </a:bodyPr>
          <a:lstStyle/>
          <a:p>
            <a:pPr marL="318135" algn="ctr">
              <a:spcBef>
                <a:spcPts val="114"/>
              </a:spcBef>
            </a:pPr>
            <a:r>
              <a:rPr sz="4400" spc="-10" dirty="0"/>
              <a:t>PROJECT</a:t>
            </a:r>
            <a:r>
              <a:rPr sz="4400" spc="-545" dirty="0"/>
              <a:t> </a:t>
            </a:r>
            <a:r>
              <a:rPr lang="en-US" sz="4400" spc="-545" dirty="0"/>
              <a:t> </a:t>
            </a:r>
            <a:r>
              <a:rPr sz="4400" spc="-120" dirty="0"/>
              <a:t>OVERVIEW</a:t>
            </a:r>
            <a:endParaRPr sz="4400" dirty="0"/>
          </a:p>
        </p:txBody>
      </p:sp>
      <p:sp>
        <p:nvSpPr>
          <p:cNvPr id="15" name="object 15"/>
          <p:cNvSpPr txBox="1"/>
          <p:nvPr/>
        </p:nvSpPr>
        <p:spPr>
          <a:xfrm>
            <a:off x="115380" y="1333500"/>
            <a:ext cx="17973777" cy="112083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16900"/>
              </a:lnSpc>
              <a:spcBef>
                <a:spcPts val="2625"/>
              </a:spcBef>
            </a:pP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The Adventure Works project is a comprehensive data analysis initiative based on a fictional, multinational bicycle manufacturer.</a:t>
            </a:r>
          </a:p>
          <a:p>
            <a:pPr marL="12700" marR="5080" algn="just">
              <a:lnSpc>
                <a:spcPct val="116900"/>
              </a:lnSpc>
              <a:spcBef>
                <a:spcPts val="2625"/>
              </a:spcBef>
            </a:pPr>
            <a:r>
              <a:rPr lang="en-US"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Key Aspects of the Adventure Works Project:</a:t>
            </a:r>
          </a:p>
          <a:p>
            <a:pPr marL="469900" marR="5080" indent="-457200" algn="just">
              <a:lnSpc>
                <a:spcPct val="116900"/>
              </a:lnSpc>
              <a:spcBef>
                <a:spcPts val="2625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Context: 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The company is a large manufacturer producing bicycles, parts, and accessories for international markets (North America, Europe, Asia).</a:t>
            </a:r>
          </a:p>
          <a:p>
            <a:pPr marL="469900" marR="5080" indent="-457200" algn="just">
              <a:lnSpc>
                <a:spcPct val="116900"/>
              </a:lnSpc>
              <a:spcBef>
                <a:spcPts val="2625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Goal: 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To analyze sales data, manage customer feedback, and identify key performance indicators (KPIs) like revenue, profit, and returns.</a:t>
            </a:r>
          </a:p>
          <a:p>
            <a:pPr marL="469900" marR="5080" indent="-457200" algn="just">
              <a:lnSpc>
                <a:spcPct val="116900"/>
              </a:lnSpc>
              <a:spcBef>
                <a:spcPts val="2625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r>
              <a:rPr lang="en-US"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Core Components:</a:t>
            </a:r>
          </a:p>
          <a:p>
            <a:pPr marL="4572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Data Modeling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: Designing relational models using Adventure Works datasets, including SQL</a:t>
            </a:r>
          </a:p>
          <a:p>
            <a:pPr marL="4572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Data Analysis (DAX): 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Creating calculated columns and measures to analyze sales, employee performance, and product trends.</a:t>
            </a:r>
          </a:p>
          <a:p>
            <a:pPr marL="4572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Data Visualization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: Creating interactive dashboards (often in Power BI) to visualize sales performance and identify high-value customers.</a:t>
            </a:r>
          </a:p>
          <a:p>
            <a:pPr lvl="1"/>
            <a:endParaRPr lang="en-US" sz="280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469900" marR="5080" indent="-457200" algn="just">
              <a:lnSpc>
                <a:spcPct val="116900"/>
              </a:lnSpc>
              <a:spcBef>
                <a:spcPts val="2625"/>
              </a:spcBef>
              <a:buFont typeface="Arial" panose="020B0604020202020204" pitchFamily="34" charset="0"/>
              <a:buChar char="•"/>
            </a:pPr>
            <a:endParaRPr lang="en-US" sz="310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12700" marR="5080" algn="just">
              <a:lnSpc>
                <a:spcPct val="116900"/>
              </a:lnSpc>
              <a:spcBef>
                <a:spcPts val="2625"/>
              </a:spcBef>
            </a:pPr>
            <a:endParaRPr lang="en-US" sz="3100" b="1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260" y="-62450"/>
            <a:ext cx="17628993" cy="1242033"/>
          </a:xfrm>
          <a:prstGeom prst="rect">
            <a:avLst/>
          </a:prstGeom>
        </p:spPr>
        <p:txBody>
          <a:bodyPr vert="horz" wrap="square" lIns="0" tIns="315621" rIns="0" bIns="0" rtlCol="0">
            <a:spAutoFit/>
          </a:bodyPr>
          <a:lstStyle/>
          <a:p>
            <a:pPr marL="4502150" algn="l">
              <a:lnSpc>
                <a:spcPct val="100000"/>
              </a:lnSpc>
              <a:spcBef>
                <a:spcPts val="95"/>
              </a:spcBef>
            </a:pPr>
            <a:r>
              <a:rPr lang="en-US" sz="4400" dirty="0"/>
              <a:t>               </a:t>
            </a:r>
            <a:r>
              <a:rPr lang="en-US" sz="6000" dirty="0"/>
              <a:t>TOOLS USED</a:t>
            </a:r>
            <a:endParaRPr lang="en-US"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4241032" y="6495923"/>
            <a:ext cx="218249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140" dirty="0">
                <a:solidFill>
                  <a:srgbClr val="002960"/>
                </a:solidFill>
                <a:latin typeface="Trebuchet MS"/>
                <a:cs typeface="Trebuchet MS"/>
              </a:rPr>
              <a:t>TABLEAU</a:t>
            </a:r>
            <a:endParaRPr sz="395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66630" y="3655138"/>
            <a:ext cx="7304405" cy="4846955"/>
            <a:chOff x="2866630" y="3655138"/>
            <a:chExt cx="7304405" cy="484695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26391" y="3852714"/>
              <a:ext cx="71147" cy="7114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26391" y="4889440"/>
              <a:ext cx="71147" cy="7114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66630" y="7749115"/>
              <a:ext cx="66675" cy="6667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66630" y="8434915"/>
              <a:ext cx="66675" cy="666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02428" y="3655138"/>
              <a:ext cx="68080" cy="6808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231899" y="3693754"/>
            <a:ext cx="5328920" cy="323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7715" algn="l"/>
                <a:tab pos="1370965" algn="l"/>
                <a:tab pos="2062480" algn="l"/>
                <a:tab pos="2559685" algn="l"/>
                <a:tab pos="3368675" algn="l"/>
                <a:tab pos="4020820" algn="l"/>
              </a:tabLst>
            </a:pPr>
            <a:r>
              <a:rPr sz="1950" spc="-10" dirty="0">
                <a:latin typeface="Times New Roman"/>
                <a:cs typeface="Times New Roman"/>
              </a:rPr>
              <a:t>Excel</a:t>
            </a:r>
            <a:r>
              <a:rPr sz="1950" dirty="0">
                <a:latin typeface="Times New Roman"/>
                <a:cs typeface="Times New Roman"/>
              </a:rPr>
              <a:t>	</a:t>
            </a:r>
            <a:r>
              <a:rPr sz="1950" spc="65" dirty="0">
                <a:latin typeface="Times New Roman"/>
                <a:cs typeface="Times New Roman"/>
              </a:rPr>
              <a:t>was</a:t>
            </a:r>
            <a:r>
              <a:rPr sz="1950" dirty="0">
                <a:latin typeface="Times New Roman"/>
                <a:cs typeface="Times New Roman"/>
              </a:rPr>
              <a:t>	</a:t>
            </a:r>
            <a:r>
              <a:rPr sz="1950" spc="85" dirty="0">
                <a:latin typeface="Times New Roman"/>
                <a:cs typeface="Times New Roman"/>
              </a:rPr>
              <a:t>used</a:t>
            </a:r>
            <a:r>
              <a:rPr sz="1950" dirty="0">
                <a:latin typeface="Times New Roman"/>
                <a:cs typeface="Times New Roman"/>
              </a:rPr>
              <a:t>	</a:t>
            </a:r>
            <a:r>
              <a:rPr sz="1950" spc="40" dirty="0">
                <a:latin typeface="Times New Roman"/>
                <a:cs typeface="Times New Roman"/>
              </a:rPr>
              <a:t>for</a:t>
            </a:r>
            <a:r>
              <a:rPr sz="1950" dirty="0">
                <a:latin typeface="Times New Roman"/>
                <a:cs typeface="Times New Roman"/>
              </a:rPr>
              <a:t>	</a:t>
            </a:r>
            <a:r>
              <a:rPr sz="1950" spc="45" dirty="0">
                <a:latin typeface="Times New Roman"/>
                <a:cs typeface="Times New Roman"/>
              </a:rPr>
              <a:t>initial</a:t>
            </a:r>
            <a:r>
              <a:rPr sz="1950" dirty="0">
                <a:latin typeface="Times New Roman"/>
                <a:cs typeface="Times New Roman"/>
              </a:rPr>
              <a:t>	</a:t>
            </a:r>
            <a:r>
              <a:rPr sz="1950" spc="90" dirty="0">
                <a:latin typeface="Times New Roman"/>
                <a:cs typeface="Times New Roman"/>
              </a:rPr>
              <a:t>data</a:t>
            </a:r>
            <a:r>
              <a:rPr sz="1950" dirty="0">
                <a:latin typeface="Times New Roman"/>
                <a:cs typeface="Times New Roman"/>
              </a:rPr>
              <a:t>	</a:t>
            </a:r>
            <a:r>
              <a:rPr lang="en-IN" sz="1950" spc="50" dirty="0">
                <a:latin typeface="Times New Roman"/>
                <a:cs typeface="Times New Roman"/>
              </a:rPr>
              <a:t>cleaning</a:t>
            </a:r>
            <a:r>
              <a:rPr sz="1950" spc="50" dirty="0">
                <a:latin typeface="Times New Roman"/>
                <a:cs typeface="Times New Roman"/>
              </a:rPr>
              <a:t>,</a:t>
            </a:r>
            <a:endParaRPr sz="195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31899" y="3991234"/>
            <a:ext cx="5328920" cy="1376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300"/>
              </a:lnSpc>
              <a:spcBef>
                <a:spcPts val="100"/>
              </a:spcBef>
            </a:pPr>
            <a:r>
              <a:rPr lang="en-IN" sz="1950" spc="60" dirty="0">
                <a:latin typeface="Times New Roman"/>
                <a:cs typeface="Times New Roman"/>
              </a:rPr>
              <a:t>Data modelling using power pivot.</a:t>
            </a:r>
            <a:endParaRPr sz="195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6300"/>
              </a:lnSpc>
            </a:pPr>
            <a:r>
              <a:rPr sz="1950" spc="65" dirty="0">
                <a:latin typeface="Times New Roman"/>
                <a:cs typeface="Times New Roman"/>
              </a:rPr>
              <a:t>Pivot</a:t>
            </a:r>
            <a:r>
              <a:rPr sz="1950" spc="-80" dirty="0">
                <a:latin typeface="Times New Roman"/>
                <a:cs typeface="Times New Roman"/>
              </a:rPr>
              <a:t> </a:t>
            </a:r>
            <a:r>
              <a:rPr sz="1950" spc="75" dirty="0">
                <a:latin typeface="Times New Roman"/>
                <a:cs typeface="Times New Roman"/>
              </a:rPr>
              <a:t>tables</a:t>
            </a:r>
            <a:r>
              <a:rPr sz="1950" spc="-80" dirty="0">
                <a:latin typeface="Times New Roman"/>
                <a:cs typeface="Times New Roman"/>
              </a:rPr>
              <a:t> </a:t>
            </a:r>
            <a:r>
              <a:rPr sz="1950" spc="120" dirty="0">
                <a:latin typeface="Times New Roman"/>
                <a:cs typeface="Times New Roman"/>
              </a:rPr>
              <a:t>and</a:t>
            </a:r>
            <a:r>
              <a:rPr sz="1950" spc="-80" dirty="0">
                <a:latin typeface="Times New Roman"/>
                <a:cs typeface="Times New Roman"/>
              </a:rPr>
              <a:t> </a:t>
            </a:r>
            <a:r>
              <a:rPr sz="1950" spc="100" dirty="0">
                <a:latin typeface="Times New Roman"/>
                <a:cs typeface="Times New Roman"/>
              </a:rPr>
              <a:t>charts</a:t>
            </a:r>
            <a:r>
              <a:rPr sz="1950" spc="-80" dirty="0">
                <a:latin typeface="Times New Roman"/>
                <a:cs typeface="Times New Roman"/>
              </a:rPr>
              <a:t> </a:t>
            </a:r>
            <a:r>
              <a:rPr sz="1950" spc="90" dirty="0">
                <a:latin typeface="Times New Roman"/>
                <a:cs typeface="Times New Roman"/>
              </a:rPr>
              <a:t>in</a:t>
            </a:r>
            <a:r>
              <a:rPr sz="1950" spc="-7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Excel</a:t>
            </a:r>
            <a:r>
              <a:rPr sz="1950" spc="-80" dirty="0">
                <a:latin typeface="Times New Roman"/>
                <a:cs typeface="Times New Roman"/>
              </a:rPr>
              <a:t> </a:t>
            </a:r>
            <a:r>
              <a:rPr sz="1950" spc="105" dirty="0">
                <a:latin typeface="Times New Roman"/>
                <a:cs typeface="Times New Roman"/>
              </a:rPr>
              <a:t>were</a:t>
            </a:r>
            <a:r>
              <a:rPr sz="1950" spc="-80" dirty="0">
                <a:latin typeface="Times New Roman"/>
                <a:cs typeface="Times New Roman"/>
              </a:rPr>
              <a:t> </a:t>
            </a:r>
            <a:r>
              <a:rPr sz="1950" spc="80" dirty="0">
                <a:latin typeface="Times New Roman"/>
                <a:cs typeface="Times New Roman"/>
              </a:rPr>
              <a:t>employed</a:t>
            </a:r>
            <a:r>
              <a:rPr sz="1950" spc="-80" dirty="0">
                <a:latin typeface="Times New Roman"/>
                <a:cs typeface="Times New Roman"/>
              </a:rPr>
              <a:t> </a:t>
            </a:r>
            <a:r>
              <a:rPr sz="1950" spc="95" dirty="0">
                <a:latin typeface="Times New Roman"/>
                <a:cs typeface="Times New Roman"/>
              </a:rPr>
              <a:t>to create</a:t>
            </a:r>
            <a:r>
              <a:rPr sz="1950" spc="180" dirty="0">
                <a:latin typeface="Times New Roman"/>
                <a:cs typeface="Times New Roman"/>
              </a:rPr>
              <a:t>  </a:t>
            </a:r>
            <a:r>
              <a:rPr sz="1950" spc="70" dirty="0">
                <a:latin typeface="Times New Roman"/>
                <a:cs typeface="Times New Roman"/>
              </a:rPr>
              <a:t>quick</a:t>
            </a:r>
            <a:r>
              <a:rPr sz="1950" spc="180" dirty="0">
                <a:latin typeface="Times New Roman"/>
                <a:cs typeface="Times New Roman"/>
              </a:rPr>
              <a:t>  </a:t>
            </a:r>
            <a:r>
              <a:rPr sz="1950" spc="60" dirty="0">
                <a:latin typeface="Times New Roman"/>
                <a:cs typeface="Times New Roman"/>
              </a:rPr>
              <a:t>visualizations</a:t>
            </a:r>
            <a:r>
              <a:rPr sz="1950" spc="180" dirty="0">
                <a:latin typeface="Times New Roman"/>
                <a:cs typeface="Times New Roman"/>
              </a:rPr>
              <a:t>  </a:t>
            </a:r>
            <a:r>
              <a:rPr sz="1950" dirty="0">
                <a:latin typeface="Times New Roman"/>
                <a:cs typeface="Times New Roman"/>
              </a:rPr>
              <a:t>of</a:t>
            </a:r>
            <a:r>
              <a:rPr sz="1950" spc="180" dirty="0">
                <a:latin typeface="Times New Roman"/>
                <a:cs typeface="Times New Roman"/>
              </a:rPr>
              <a:t>  </a:t>
            </a:r>
            <a:r>
              <a:rPr sz="1950" spc="75" dirty="0">
                <a:latin typeface="Times New Roman"/>
                <a:cs typeface="Times New Roman"/>
              </a:rPr>
              <a:t>year-</a:t>
            </a:r>
            <a:r>
              <a:rPr sz="1950" spc="65" dirty="0">
                <a:latin typeface="Times New Roman"/>
                <a:cs typeface="Times New Roman"/>
              </a:rPr>
              <a:t>wise</a:t>
            </a:r>
            <a:r>
              <a:rPr sz="1950" spc="180" dirty="0">
                <a:latin typeface="Times New Roman"/>
                <a:cs typeface="Times New Roman"/>
              </a:rPr>
              <a:t>  </a:t>
            </a:r>
            <a:r>
              <a:rPr lang="en-IN" sz="1950" spc="50" dirty="0">
                <a:latin typeface="Times New Roman"/>
                <a:cs typeface="Times New Roman"/>
              </a:rPr>
              <a:t>sales</a:t>
            </a:r>
            <a:r>
              <a:rPr sz="1950" spc="50" dirty="0">
                <a:latin typeface="Times New Roman"/>
                <a:cs typeface="Times New Roman"/>
              </a:rPr>
              <a:t> </a:t>
            </a:r>
            <a:r>
              <a:rPr sz="1950" spc="120" dirty="0">
                <a:latin typeface="Times New Roman"/>
                <a:cs typeface="Times New Roman"/>
              </a:rPr>
              <a:t>amounts</a:t>
            </a:r>
            <a:r>
              <a:rPr sz="1950" spc="-130" dirty="0">
                <a:latin typeface="Times New Roman"/>
                <a:cs typeface="Times New Roman"/>
              </a:rPr>
              <a:t> </a:t>
            </a:r>
            <a:r>
              <a:rPr sz="1950" spc="120" dirty="0">
                <a:latin typeface="Times New Roman"/>
                <a:cs typeface="Times New Roman"/>
              </a:rPr>
              <a:t>and</a:t>
            </a:r>
            <a:r>
              <a:rPr sz="1950" spc="-125" dirty="0">
                <a:latin typeface="Times New Roman"/>
                <a:cs typeface="Times New Roman"/>
              </a:rPr>
              <a:t> </a:t>
            </a:r>
            <a:r>
              <a:rPr sz="1950" spc="114" dirty="0">
                <a:latin typeface="Times New Roman"/>
                <a:cs typeface="Times New Roman"/>
              </a:rPr>
              <a:t>other</a:t>
            </a:r>
            <a:r>
              <a:rPr sz="1950" spc="-125" dirty="0">
                <a:latin typeface="Times New Roman"/>
                <a:cs typeface="Times New Roman"/>
              </a:rPr>
              <a:t> </a:t>
            </a:r>
            <a:r>
              <a:rPr sz="1950" spc="-20" dirty="0">
                <a:latin typeface="Times New Roman"/>
                <a:cs typeface="Times New Roman"/>
              </a:rPr>
              <a:t>KPIs.</a:t>
            </a:r>
            <a:endParaRPr sz="195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51425" y="7537761"/>
            <a:ext cx="5509260" cy="1739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8400"/>
              </a:lnSpc>
              <a:spcBef>
                <a:spcPts val="95"/>
              </a:spcBef>
            </a:pPr>
            <a:r>
              <a:rPr sz="1900" spc="-125" dirty="0">
                <a:solidFill>
                  <a:srgbClr val="002960"/>
                </a:solidFill>
                <a:latin typeface="Times New Roman"/>
                <a:cs typeface="Times New Roman"/>
              </a:rPr>
              <a:t>A</a:t>
            </a:r>
            <a:r>
              <a:rPr sz="1900" spc="-5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00" spc="120" dirty="0">
                <a:solidFill>
                  <a:srgbClr val="002960"/>
                </a:solidFill>
                <a:latin typeface="Times New Roman"/>
                <a:cs typeface="Times New Roman"/>
              </a:rPr>
              <a:t>data</a:t>
            </a:r>
            <a:r>
              <a:rPr sz="1900" spc="-5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00" spc="70" dirty="0">
                <a:solidFill>
                  <a:srgbClr val="002960"/>
                </a:solidFill>
                <a:latin typeface="Times New Roman"/>
                <a:cs typeface="Times New Roman"/>
              </a:rPr>
              <a:t>visualization</a:t>
            </a:r>
            <a:r>
              <a:rPr sz="1900" spc="-5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00" spc="80" dirty="0">
                <a:solidFill>
                  <a:srgbClr val="002960"/>
                </a:solidFill>
                <a:latin typeface="Times New Roman"/>
                <a:cs typeface="Times New Roman"/>
              </a:rPr>
              <a:t>tool</a:t>
            </a:r>
            <a:r>
              <a:rPr sz="1900" spc="-5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00" spc="114" dirty="0">
                <a:solidFill>
                  <a:srgbClr val="002960"/>
                </a:solidFill>
                <a:latin typeface="Times New Roman"/>
                <a:cs typeface="Times New Roman"/>
              </a:rPr>
              <a:t>used</a:t>
            </a:r>
            <a:r>
              <a:rPr sz="1900" spc="-5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00" spc="70" dirty="0">
                <a:solidFill>
                  <a:srgbClr val="002960"/>
                </a:solidFill>
                <a:latin typeface="Times New Roman"/>
                <a:cs typeface="Times New Roman"/>
              </a:rPr>
              <a:t>for</a:t>
            </a:r>
            <a:r>
              <a:rPr sz="1900" spc="-5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00" spc="90" dirty="0">
                <a:solidFill>
                  <a:srgbClr val="002960"/>
                </a:solidFill>
                <a:latin typeface="Times New Roman"/>
                <a:cs typeface="Times New Roman"/>
              </a:rPr>
              <a:t>creating</a:t>
            </a:r>
            <a:r>
              <a:rPr sz="1900" spc="-5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00" spc="95" dirty="0">
                <a:solidFill>
                  <a:srgbClr val="002960"/>
                </a:solidFill>
                <a:latin typeface="Times New Roman"/>
                <a:cs typeface="Times New Roman"/>
              </a:rPr>
              <a:t>advanced</a:t>
            </a:r>
            <a:r>
              <a:rPr sz="1900" spc="8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00" spc="70" dirty="0">
                <a:solidFill>
                  <a:srgbClr val="002960"/>
                </a:solidFill>
                <a:latin typeface="Times New Roman"/>
                <a:cs typeface="Times New Roman"/>
              </a:rPr>
              <a:t>visualizations</a:t>
            </a:r>
            <a:r>
              <a:rPr sz="1900" spc="-12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00" spc="135" dirty="0">
                <a:solidFill>
                  <a:srgbClr val="002960"/>
                </a:solidFill>
                <a:latin typeface="Times New Roman"/>
                <a:cs typeface="Times New Roman"/>
              </a:rPr>
              <a:t>and</a:t>
            </a:r>
            <a:r>
              <a:rPr sz="1900" spc="-12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00" spc="90" dirty="0">
                <a:solidFill>
                  <a:srgbClr val="002960"/>
                </a:solidFill>
                <a:latin typeface="Times New Roman"/>
                <a:cs typeface="Times New Roman"/>
              </a:rPr>
              <a:t>interactive</a:t>
            </a:r>
            <a:r>
              <a:rPr sz="1900" spc="-12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00" spc="85" dirty="0">
                <a:solidFill>
                  <a:srgbClr val="002960"/>
                </a:solidFill>
                <a:latin typeface="Times New Roman"/>
                <a:cs typeface="Times New Roman"/>
              </a:rPr>
              <a:t>dashboards.</a:t>
            </a:r>
            <a:endParaRPr sz="19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8400"/>
              </a:lnSpc>
            </a:pPr>
            <a:r>
              <a:rPr sz="1900" spc="55" dirty="0">
                <a:solidFill>
                  <a:srgbClr val="002960"/>
                </a:solidFill>
                <a:latin typeface="Times New Roman"/>
                <a:cs typeface="Times New Roman"/>
              </a:rPr>
              <a:t>Tableau's</a:t>
            </a:r>
            <a:r>
              <a:rPr sz="1900" spc="60" dirty="0">
                <a:solidFill>
                  <a:srgbClr val="002960"/>
                </a:solidFill>
                <a:latin typeface="Times New Roman"/>
                <a:cs typeface="Times New Roman"/>
              </a:rPr>
              <a:t> ability </a:t>
            </a:r>
            <a:r>
              <a:rPr sz="1900" spc="130" dirty="0">
                <a:solidFill>
                  <a:srgbClr val="002960"/>
                </a:solidFill>
                <a:latin typeface="Times New Roman"/>
                <a:cs typeface="Times New Roman"/>
              </a:rPr>
              <a:t>to</a:t>
            </a:r>
            <a:r>
              <a:rPr sz="1900" spc="6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00" spc="105" dirty="0">
                <a:solidFill>
                  <a:srgbClr val="002960"/>
                </a:solidFill>
                <a:latin typeface="Times New Roman"/>
                <a:cs typeface="Times New Roman"/>
              </a:rPr>
              <a:t>create</a:t>
            </a:r>
            <a:r>
              <a:rPr sz="1900" spc="6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00" spc="90" dirty="0">
                <a:solidFill>
                  <a:srgbClr val="002960"/>
                </a:solidFill>
                <a:latin typeface="Times New Roman"/>
                <a:cs typeface="Times New Roman"/>
              </a:rPr>
              <a:t>interactive</a:t>
            </a:r>
            <a:r>
              <a:rPr sz="1900" spc="60" dirty="0">
                <a:solidFill>
                  <a:srgbClr val="002960"/>
                </a:solidFill>
                <a:latin typeface="Times New Roman"/>
                <a:cs typeface="Times New Roman"/>
              </a:rPr>
              <a:t> visualizations </a:t>
            </a:r>
            <a:r>
              <a:rPr sz="1900" spc="95" dirty="0">
                <a:solidFill>
                  <a:srgbClr val="002960"/>
                </a:solidFill>
                <a:latin typeface="Times New Roman"/>
                <a:cs typeface="Times New Roman"/>
              </a:rPr>
              <a:t>helped</a:t>
            </a:r>
            <a:r>
              <a:rPr sz="1900" spc="-4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00" spc="100" dirty="0">
                <a:solidFill>
                  <a:srgbClr val="002960"/>
                </a:solidFill>
                <a:latin typeface="Times New Roman"/>
                <a:cs typeface="Times New Roman"/>
              </a:rPr>
              <a:t>in</a:t>
            </a:r>
            <a:r>
              <a:rPr sz="1900" spc="-3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00" spc="70" dirty="0">
                <a:solidFill>
                  <a:srgbClr val="002960"/>
                </a:solidFill>
                <a:latin typeface="Times New Roman"/>
                <a:cs typeface="Times New Roman"/>
              </a:rPr>
              <a:t>exploring</a:t>
            </a:r>
            <a:r>
              <a:rPr sz="1900" spc="-4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00" spc="140" dirty="0">
                <a:solidFill>
                  <a:srgbClr val="002960"/>
                </a:solidFill>
                <a:latin typeface="Times New Roman"/>
                <a:cs typeface="Times New Roman"/>
              </a:rPr>
              <a:t>the</a:t>
            </a:r>
            <a:r>
              <a:rPr sz="1900" spc="-3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00" spc="120" dirty="0">
                <a:solidFill>
                  <a:srgbClr val="002960"/>
                </a:solidFill>
                <a:latin typeface="Times New Roman"/>
                <a:cs typeface="Times New Roman"/>
              </a:rPr>
              <a:t>data</a:t>
            </a:r>
            <a:r>
              <a:rPr sz="1900" spc="-3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00" spc="130" dirty="0">
                <a:solidFill>
                  <a:srgbClr val="002960"/>
                </a:solidFill>
                <a:latin typeface="Times New Roman"/>
                <a:cs typeface="Times New Roman"/>
              </a:rPr>
              <a:t>more</a:t>
            </a:r>
            <a:r>
              <a:rPr sz="1900" spc="-4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00" spc="80" dirty="0">
                <a:solidFill>
                  <a:srgbClr val="002960"/>
                </a:solidFill>
                <a:latin typeface="Times New Roman"/>
                <a:cs typeface="Times New Roman"/>
              </a:rPr>
              <a:t>comprehensively </a:t>
            </a:r>
            <a:r>
              <a:rPr sz="1900" spc="135" dirty="0">
                <a:solidFill>
                  <a:srgbClr val="002960"/>
                </a:solidFill>
                <a:latin typeface="Times New Roman"/>
                <a:cs typeface="Times New Roman"/>
              </a:rPr>
              <a:t>and</a:t>
            </a:r>
            <a:r>
              <a:rPr sz="1900" spc="-11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00" spc="70" dirty="0">
                <a:solidFill>
                  <a:srgbClr val="002960"/>
                </a:solidFill>
                <a:latin typeface="Times New Roman"/>
                <a:cs typeface="Times New Roman"/>
              </a:rPr>
              <a:t>identifying</a:t>
            </a:r>
            <a:r>
              <a:rPr sz="1900" spc="-11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00" spc="110" dirty="0">
                <a:solidFill>
                  <a:srgbClr val="002960"/>
                </a:solidFill>
                <a:latin typeface="Times New Roman"/>
                <a:cs typeface="Times New Roman"/>
              </a:rPr>
              <a:t>hidden</a:t>
            </a:r>
            <a:r>
              <a:rPr sz="1900" spc="-11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00" spc="95" dirty="0">
                <a:solidFill>
                  <a:srgbClr val="002960"/>
                </a:solidFill>
                <a:latin typeface="Times New Roman"/>
                <a:cs typeface="Times New Roman"/>
              </a:rPr>
              <a:t>patterns.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50022" y="2699149"/>
            <a:ext cx="11219815" cy="111633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3950" spc="170" dirty="0">
                <a:latin typeface="Trebuchet MS"/>
                <a:cs typeface="Trebuchet MS"/>
              </a:rPr>
              <a:t>EXCEL</a:t>
            </a:r>
            <a:endParaRPr sz="3950" dirty="0">
              <a:latin typeface="Trebuchet MS"/>
              <a:cs typeface="Trebuchet MS"/>
            </a:endParaRPr>
          </a:p>
          <a:p>
            <a:pPr marL="6153785">
              <a:lnSpc>
                <a:spcPct val="100000"/>
              </a:lnSpc>
              <a:spcBef>
                <a:spcPts val="509"/>
              </a:spcBef>
            </a:pPr>
            <a:r>
              <a:rPr sz="1950" spc="-55" dirty="0">
                <a:solidFill>
                  <a:srgbClr val="002960"/>
                </a:solidFill>
                <a:latin typeface="Times New Roman"/>
                <a:cs typeface="Times New Roman"/>
              </a:rPr>
              <a:t>SQL</a:t>
            </a:r>
            <a:r>
              <a:rPr sz="1950" spc="-11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100" dirty="0">
                <a:solidFill>
                  <a:srgbClr val="002960"/>
                </a:solidFill>
                <a:latin typeface="Times New Roman"/>
                <a:cs typeface="Times New Roman"/>
              </a:rPr>
              <a:t>was</a:t>
            </a:r>
            <a:r>
              <a:rPr sz="1950" spc="-11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114" dirty="0">
                <a:solidFill>
                  <a:srgbClr val="002960"/>
                </a:solidFill>
                <a:latin typeface="Times New Roman"/>
                <a:cs typeface="Times New Roman"/>
              </a:rPr>
              <a:t>used</a:t>
            </a:r>
            <a:r>
              <a:rPr sz="1950" spc="-11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130" dirty="0">
                <a:solidFill>
                  <a:srgbClr val="002960"/>
                </a:solidFill>
                <a:latin typeface="Times New Roman"/>
                <a:cs typeface="Times New Roman"/>
              </a:rPr>
              <a:t>to</a:t>
            </a:r>
            <a:r>
              <a:rPr sz="1950" spc="-11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110" dirty="0">
                <a:solidFill>
                  <a:srgbClr val="002960"/>
                </a:solidFill>
                <a:latin typeface="Times New Roman"/>
                <a:cs typeface="Times New Roman"/>
              </a:rPr>
              <a:t>query</a:t>
            </a:r>
            <a:r>
              <a:rPr sz="1950" spc="-11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140" dirty="0">
                <a:solidFill>
                  <a:srgbClr val="002960"/>
                </a:solidFill>
                <a:latin typeface="Times New Roman"/>
                <a:cs typeface="Times New Roman"/>
              </a:rPr>
              <a:t>the</a:t>
            </a:r>
            <a:endParaRPr sz="1950" dirty="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937849" y="4355397"/>
            <a:ext cx="233045" cy="4488180"/>
            <a:chOff x="9937849" y="4355397"/>
            <a:chExt cx="233045" cy="448818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02428" y="4355397"/>
              <a:ext cx="68080" cy="6808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02428" y="5055656"/>
              <a:ext cx="68080" cy="6808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37849" y="7395702"/>
              <a:ext cx="76200" cy="761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37849" y="8081502"/>
              <a:ext cx="76200" cy="761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37849" y="8767302"/>
              <a:ext cx="76200" cy="7619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0291387" y="3789726"/>
            <a:ext cx="5078095" cy="2126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800"/>
              </a:lnSpc>
              <a:spcBef>
                <a:spcPts val="95"/>
              </a:spcBef>
            </a:pPr>
            <a:r>
              <a:rPr sz="1950" spc="100" dirty="0">
                <a:solidFill>
                  <a:srgbClr val="002960"/>
                </a:solidFill>
                <a:latin typeface="Times New Roman"/>
                <a:cs typeface="Times New Roman"/>
              </a:rPr>
              <a:t>relevant</a:t>
            </a:r>
            <a:r>
              <a:rPr sz="1950" spc="-12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lang="en-IN" sz="1950" spc="80" dirty="0">
                <a:solidFill>
                  <a:srgbClr val="002960"/>
                </a:solidFill>
                <a:latin typeface="Times New Roman"/>
                <a:cs typeface="Times New Roman"/>
              </a:rPr>
              <a:t>sales</a:t>
            </a:r>
            <a:r>
              <a:rPr sz="1950" spc="-12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120" dirty="0">
                <a:solidFill>
                  <a:srgbClr val="002960"/>
                </a:solidFill>
                <a:latin typeface="Times New Roman"/>
                <a:cs typeface="Times New Roman"/>
              </a:rPr>
              <a:t>data</a:t>
            </a:r>
            <a:r>
              <a:rPr sz="1950" spc="-12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70" dirty="0">
                <a:solidFill>
                  <a:srgbClr val="002960"/>
                </a:solidFill>
                <a:latin typeface="Times New Roman"/>
                <a:cs typeface="Times New Roman"/>
              </a:rPr>
              <a:t>for</a:t>
            </a:r>
            <a:r>
              <a:rPr sz="1950" spc="-12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40" dirty="0">
                <a:solidFill>
                  <a:srgbClr val="002960"/>
                </a:solidFill>
                <a:latin typeface="Times New Roman"/>
                <a:cs typeface="Times New Roman"/>
              </a:rPr>
              <a:t>analysis.</a:t>
            </a:r>
            <a:endParaRPr lang="en-IN" sz="1950" spc="40" dirty="0">
              <a:solidFill>
                <a:srgbClr val="002960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ct val="117800"/>
              </a:lnSpc>
              <a:spcBef>
                <a:spcPts val="95"/>
              </a:spcBef>
            </a:pPr>
            <a:r>
              <a:rPr sz="1950" spc="60" dirty="0">
                <a:solidFill>
                  <a:srgbClr val="002960"/>
                </a:solidFill>
                <a:latin typeface="Times New Roman"/>
                <a:cs typeface="Times New Roman"/>
              </a:rPr>
              <a:t>Complex</a:t>
            </a:r>
            <a:r>
              <a:rPr sz="1950" spc="35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90" dirty="0">
                <a:solidFill>
                  <a:srgbClr val="002960"/>
                </a:solidFill>
                <a:latin typeface="Times New Roman"/>
                <a:cs typeface="Times New Roman"/>
              </a:rPr>
              <a:t>queries</a:t>
            </a:r>
            <a:r>
              <a:rPr sz="1950" spc="36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110" dirty="0">
                <a:solidFill>
                  <a:srgbClr val="002960"/>
                </a:solidFill>
                <a:latin typeface="Times New Roman"/>
                <a:cs typeface="Times New Roman"/>
              </a:rPr>
              <a:t>were</a:t>
            </a:r>
            <a:r>
              <a:rPr sz="1950" spc="35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120" dirty="0">
                <a:solidFill>
                  <a:srgbClr val="002960"/>
                </a:solidFill>
                <a:latin typeface="Times New Roman"/>
                <a:cs typeface="Times New Roman"/>
              </a:rPr>
              <a:t>written</a:t>
            </a:r>
            <a:r>
              <a:rPr sz="1950" spc="36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130" dirty="0">
                <a:solidFill>
                  <a:srgbClr val="002960"/>
                </a:solidFill>
                <a:latin typeface="Times New Roman"/>
                <a:cs typeface="Times New Roman"/>
              </a:rPr>
              <a:t>to</a:t>
            </a:r>
            <a:r>
              <a:rPr sz="1950" spc="35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45" dirty="0">
                <a:solidFill>
                  <a:srgbClr val="002960"/>
                </a:solidFill>
                <a:latin typeface="Times New Roman"/>
                <a:cs typeface="Times New Roman"/>
              </a:rPr>
              <a:t>filter,</a:t>
            </a:r>
            <a:r>
              <a:rPr sz="1950" spc="36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-10" dirty="0">
                <a:solidFill>
                  <a:srgbClr val="002960"/>
                </a:solidFill>
                <a:latin typeface="Times New Roman"/>
                <a:cs typeface="Times New Roman"/>
              </a:rPr>
              <a:t>join, </a:t>
            </a:r>
            <a:r>
              <a:rPr sz="1950" spc="135" dirty="0">
                <a:solidFill>
                  <a:srgbClr val="002960"/>
                </a:solidFill>
                <a:latin typeface="Times New Roman"/>
                <a:cs typeface="Times New Roman"/>
              </a:rPr>
              <a:t>and</a:t>
            </a:r>
            <a:r>
              <a:rPr sz="1950" spc="-12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75" dirty="0">
                <a:solidFill>
                  <a:srgbClr val="002960"/>
                </a:solidFill>
                <a:latin typeface="Times New Roman"/>
                <a:cs typeface="Times New Roman"/>
              </a:rPr>
              <a:t>aggregate</a:t>
            </a:r>
            <a:r>
              <a:rPr sz="1950" spc="-12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120" dirty="0">
                <a:solidFill>
                  <a:srgbClr val="002960"/>
                </a:solidFill>
                <a:latin typeface="Times New Roman"/>
                <a:cs typeface="Times New Roman"/>
              </a:rPr>
              <a:t>data</a:t>
            </a:r>
            <a:r>
              <a:rPr sz="1950" spc="-12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105" dirty="0">
                <a:solidFill>
                  <a:srgbClr val="002960"/>
                </a:solidFill>
                <a:latin typeface="Times New Roman"/>
                <a:cs typeface="Times New Roman"/>
              </a:rPr>
              <a:t>from</a:t>
            </a:r>
            <a:r>
              <a:rPr sz="1950" spc="-12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90" dirty="0">
                <a:solidFill>
                  <a:srgbClr val="002960"/>
                </a:solidFill>
                <a:latin typeface="Times New Roman"/>
                <a:cs typeface="Times New Roman"/>
              </a:rPr>
              <a:t>multiple</a:t>
            </a:r>
            <a:r>
              <a:rPr sz="1950" spc="-12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45" dirty="0">
                <a:solidFill>
                  <a:srgbClr val="002960"/>
                </a:solidFill>
                <a:latin typeface="Times New Roman"/>
                <a:cs typeface="Times New Roman"/>
              </a:rPr>
              <a:t>tables.</a:t>
            </a:r>
            <a:endParaRPr sz="195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7800"/>
              </a:lnSpc>
            </a:pPr>
            <a:r>
              <a:rPr sz="1950" spc="85" dirty="0">
                <a:solidFill>
                  <a:srgbClr val="002960"/>
                </a:solidFill>
                <a:latin typeface="Times New Roman"/>
                <a:cs typeface="Times New Roman"/>
              </a:rPr>
              <a:t>Data</a:t>
            </a:r>
            <a:r>
              <a:rPr sz="1950" spc="409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100" dirty="0">
                <a:solidFill>
                  <a:srgbClr val="002960"/>
                </a:solidFill>
                <a:latin typeface="Times New Roman"/>
                <a:cs typeface="Times New Roman"/>
              </a:rPr>
              <a:t>was</a:t>
            </a:r>
            <a:r>
              <a:rPr sz="1950" spc="409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80" dirty="0">
                <a:solidFill>
                  <a:srgbClr val="002960"/>
                </a:solidFill>
                <a:latin typeface="Times New Roman"/>
                <a:cs typeface="Times New Roman"/>
              </a:rPr>
              <a:t>cleaned</a:t>
            </a:r>
            <a:r>
              <a:rPr sz="1950" spc="41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135" dirty="0">
                <a:solidFill>
                  <a:srgbClr val="002960"/>
                </a:solidFill>
                <a:latin typeface="Times New Roman"/>
                <a:cs typeface="Times New Roman"/>
              </a:rPr>
              <a:t>and</a:t>
            </a:r>
            <a:r>
              <a:rPr sz="1950" spc="409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125" dirty="0">
                <a:solidFill>
                  <a:srgbClr val="002960"/>
                </a:solidFill>
                <a:latin typeface="Times New Roman"/>
                <a:cs typeface="Times New Roman"/>
              </a:rPr>
              <a:t>structured</a:t>
            </a:r>
            <a:r>
              <a:rPr sz="1950" spc="41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100" dirty="0">
                <a:solidFill>
                  <a:srgbClr val="002960"/>
                </a:solidFill>
                <a:latin typeface="Times New Roman"/>
                <a:cs typeface="Times New Roman"/>
              </a:rPr>
              <a:t>in</a:t>
            </a:r>
            <a:r>
              <a:rPr sz="1950" spc="409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02960"/>
                </a:solidFill>
                <a:latin typeface="Times New Roman"/>
                <a:cs typeface="Times New Roman"/>
              </a:rPr>
              <a:t>SQL</a:t>
            </a:r>
            <a:r>
              <a:rPr sz="1950" spc="41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105" dirty="0">
                <a:solidFill>
                  <a:srgbClr val="002960"/>
                </a:solidFill>
                <a:latin typeface="Times New Roman"/>
                <a:cs typeface="Times New Roman"/>
              </a:rPr>
              <a:t>to </a:t>
            </a:r>
            <a:r>
              <a:rPr sz="1950" spc="120" dirty="0">
                <a:solidFill>
                  <a:srgbClr val="002960"/>
                </a:solidFill>
                <a:latin typeface="Times New Roman"/>
                <a:cs typeface="Times New Roman"/>
              </a:rPr>
              <a:t>ensure</a:t>
            </a:r>
            <a:r>
              <a:rPr sz="1950" spc="25" dirty="0">
                <a:solidFill>
                  <a:srgbClr val="002960"/>
                </a:solidFill>
                <a:latin typeface="Times New Roman"/>
                <a:cs typeface="Times New Roman"/>
              </a:rPr>
              <a:t>  </a:t>
            </a:r>
            <a:r>
              <a:rPr sz="1950" spc="100" dirty="0">
                <a:solidFill>
                  <a:srgbClr val="002960"/>
                </a:solidFill>
                <a:latin typeface="Times New Roman"/>
                <a:cs typeface="Times New Roman"/>
              </a:rPr>
              <a:t>it</a:t>
            </a:r>
            <a:r>
              <a:rPr sz="1950" spc="25" dirty="0">
                <a:solidFill>
                  <a:srgbClr val="002960"/>
                </a:solidFill>
                <a:latin typeface="Times New Roman"/>
                <a:cs typeface="Times New Roman"/>
              </a:rPr>
              <a:t>  </a:t>
            </a:r>
            <a:r>
              <a:rPr sz="1950" spc="100" dirty="0">
                <a:solidFill>
                  <a:srgbClr val="002960"/>
                </a:solidFill>
                <a:latin typeface="Times New Roman"/>
                <a:cs typeface="Times New Roman"/>
              </a:rPr>
              <a:t>was</a:t>
            </a:r>
            <a:r>
              <a:rPr sz="1950" spc="25" dirty="0">
                <a:solidFill>
                  <a:srgbClr val="002960"/>
                </a:solidFill>
                <a:latin typeface="Times New Roman"/>
                <a:cs typeface="Times New Roman"/>
              </a:rPr>
              <a:t>  </a:t>
            </a:r>
            <a:r>
              <a:rPr sz="1950" spc="105" dirty="0">
                <a:solidFill>
                  <a:srgbClr val="002960"/>
                </a:solidFill>
                <a:latin typeface="Times New Roman"/>
                <a:cs typeface="Times New Roman"/>
              </a:rPr>
              <a:t>ready</a:t>
            </a:r>
            <a:r>
              <a:rPr sz="1950" spc="30" dirty="0">
                <a:solidFill>
                  <a:srgbClr val="002960"/>
                </a:solidFill>
                <a:latin typeface="Times New Roman"/>
                <a:cs typeface="Times New Roman"/>
              </a:rPr>
              <a:t>  </a:t>
            </a:r>
            <a:r>
              <a:rPr sz="1950" spc="70" dirty="0">
                <a:solidFill>
                  <a:srgbClr val="002960"/>
                </a:solidFill>
                <a:latin typeface="Times New Roman"/>
                <a:cs typeface="Times New Roman"/>
              </a:rPr>
              <a:t>for</a:t>
            </a:r>
            <a:r>
              <a:rPr sz="1950" spc="25" dirty="0">
                <a:solidFill>
                  <a:srgbClr val="002960"/>
                </a:solidFill>
                <a:latin typeface="Times New Roman"/>
                <a:cs typeface="Times New Roman"/>
              </a:rPr>
              <a:t>  </a:t>
            </a:r>
            <a:r>
              <a:rPr sz="1950" spc="114" dirty="0">
                <a:solidFill>
                  <a:srgbClr val="002960"/>
                </a:solidFill>
                <a:latin typeface="Times New Roman"/>
                <a:cs typeface="Times New Roman"/>
              </a:rPr>
              <a:t>further</a:t>
            </a:r>
            <a:r>
              <a:rPr sz="1950" spc="25" dirty="0">
                <a:solidFill>
                  <a:srgbClr val="002960"/>
                </a:solidFill>
                <a:latin typeface="Times New Roman"/>
                <a:cs typeface="Times New Roman"/>
              </a:rPr>
              <a:t>  </a:t>
            </a:r>
            <a:r>
              <a:rPr sz="1950" spc="65" dirty="0">
                <a:solidFill>
                  <a:srgbClr val="002960"/>
                </a:solidFill>
                <a:latin typeface="Times New Roman"/>
                <a:cs typeface="Times New Roman"/>
              </a:rPr>
              <a:t>analysis</a:t>
            </a:r>
            <a:r>
              <a:rPr sz="1950" spc="25" dirty="0">
                <a:solidFill>
                  <a:srgbClr val="002960"/>
                </a:solidFill>
                <a:latin typeface="Times New Roman"/>
                <a:cs typeface="Times New Roman"/>
              </a:rPr>
              <a:t>  </a:t>
            </a:r>
            <a:r>
              <a:rPr sz="1950" spc="75" dirty="0">
                <a:solidFill>
                  <a:srgbClr val="002960"/>
                </a:solidFill>
                <a:latin typeface="Times New Roman"/>
                <a:cs typeface="Times New Roman"/>
              </a:rPr>
              <a:t>in </a:t>
            </a:r>
            <a:r>
              <a:rPr sz="1950" spc="120" dirty="0">
                <a:solidFill>
                  <a:srgbClr val="002960"/>
                </a:solidFill>
                <a:latin typeface="Times New Roman"/>
                <a:cs typeface="Times New Roman"/>
              </a:rPr>
              <a:t>other</a:t>
            </a:r>
            <a:r>
              <a:rPr sz="1950" spc="-11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-10" dirty="0">
                <a:solidFill>
                  <a:srgbClr val="002960"/>
                </a:solidFill>
                <a:latin typeface="Times New Roman"/>
                <a:cs typeface="Times New Roman"/>
              </a:rPr>
              <a:t>tools.</a:t>
            </a:r>
            <a:endParaRPr sz="195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136485" y="7194407"/>
            <a:ext cx="5383530" cy="2425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5399"/>
              </a:lnSpc>
              <a:spcBef>
                <a:spcPts val="100"/>
              </a:spcBef>
            </a:pPr>
            <a:r>
              <a:rPr sz="1950" spc="85" dirty="0">
                <a:solidFill>
                  <a:srgbClr val="002960"/>
                </a:solidFill>
                <a:latin typeface="Times New Roman"/>
                <a:cs typeface="Times New Roman"/>
              </a:rPr>
              <a:t>Power</a:t>
            </a:r>
            <a:r>
              <a:rPr sz="1950" spc="3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02960"/>
                </a:solidFill>
                <a:latin typeface="Times New Roman"/>
                <a:cs typeface="Times New Roman"/>
              </a:rPr>
              <a:t>BI</a:t>
            </a:r>
            <a:r>
              <a:rPr sz="1950" spc="4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90" dirty="0">
                <a:solidFill>
                  <a:srgbClr val="002960"/>
                </a:solidFill>
                <a:latin typeface="Times New Roman"/>
                <a:cs typeface="Times New Roman"/>
              </a:rPr>
              <a:t>was</a:t>
            </a:r>
            <a:r>
              <a:rPr sz="1950" spc="4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105" dirty="0">
                <a:solidFill>
                  <a:srgbClr val="002960"/>
                </a:solidFill>
                <a:latin typeface="Times New Roman"/>
                <a:cs typeface="Times New Roman"/>
              </a:rPr>
              <a:t>used</a:t>
            </a:r>
            <a:r>
              <a:rPr sz="1950" spc="3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120" dirty="0">
                <a:solidFill>
                  <a:srgbClr val="002960"/>
                </a:solidFill>
                <a:latin typeface="Times New Roman"/>
                <a:cs typeface="Times New Roman"/>
              </a:rPr>
              <a:t>to</a:t>
            </a:r>
            <a:r>
              <a:rPr sz="1950" spc="4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70" dirty="0">
                <a:solidFill>
                  <a:srgbClr val="002960"/>
                </a:solidFill>
                <a:latin typeface="Times New Roman"/>
                <a:cs typeface="Times New Roman"/>
              </a:rPr>
              <a:t>develop</a:t>
            </a:r>
            <a:r>
              <a:rPr sz="1950" spc="4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80" dirty="0">
                <a:solidFill>
                  <a:srgbClr val="002960"/>
                </a:solidFill>
                <a:latin typeface="Times New Roman"/>
                <a:cs typeface="Times New Roman"/>
              </a:rPr>
              <a:t>interactive</a:t>
            </a:r>
            <a:r>
              <a:rPr sz="1950" spc="3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95" dirty="0">
                <a:solidFill>
                  <a:srgbClr val="002960"/>
                </a:solidFill>
                <a:latin typeface="Times New Roman"/>
                <a:cs typeface="Times New Roman"/>
              </a:rPr>
              <a:t>reports </a:t>
            </a:r>
            <a:r>
              <a:rPr sz="1950" spc="120" dirty="0">
                <a:solidFill>
                  <a:srgbClr val="002960"/>
                </a:solidFill>
                <a:latin typeface="Times New Roman"/>
                <a:cs typeface="Times New Roman"/>
              </a:rPr>
              <a:t>and</a:t>
            </a:r>
            <a:r>
              <a:rPr sz="1950" spc="-12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60" dirty="0">
                <a:solidFill>
                  <a:srgbClr val="002960"/>
                </a:solidFill>
                <a:latin typeface="Times New Roman"/>
                <a:cs typeface="Times New Roman"/>
              </a:rPr>
              <a:t>dashboards.</a:t>
            </a:r>
            <a:endParaRPr sz="195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5399"/>
              </a:lnSpc>
            </a:pPr>
            <a:r>
              <a:rPr sz="1950" spc="55" dirty="0">
                <a:solidFill>
                  <a:srgbClr val="002960"/>
                </a:solidFill>
                <a:latin typeface="Times New Roman"/>
                <a:cs typeface="Times New Roman"/>
              </a:rPr>
              <a:t>The</a:t>
            </a:r>
            <a:r>
              <a:rPr sz="1950" spc="28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02960"/>
                </a:solidFill>
                <a:latin typeface="Times New Roman"/>
                <a:cs typeface="Times New Roman"/>
              </a:rPr>
              <a:t>tool’s</a:t>
            </a:r>
            <a:r>
              <a:rPr sz="1950" spc="28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50" dirty="0">
                <a:solidFill>
                  <a:srgbClr val="002960"/>
                </a:solidFill>
                <a:latin typeface="Times New Roman"/>
                <a:cs typeface="Times New Roman"/>
              </a:rPr>
              <a:t>capabilities</a:t>
            </a:r>
            <a:r>
              <a:rPr sz="1950" spc="28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90" dirty="0">
                <a:solidFill>
                  <a:srgbClr val="002960"/>
                </a:solidFill>
                <a:latin typeface="Times New Roman"/>
                <a:cs typeface="Times New Roman"/>
              </a:rPr>
              <a:t>in</a:t>
            </a:r>
            <a:r>
              <a:rPr sz="1950" spc="28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75" dirty="0">
                <a:solidFill>
                  <a:srgbClr val="002960"/>
                </a:solidFill>
                <a:latin typeface="Times New Roman"/>
                <a:cs typeface="Times New Roman"/>
              </a:rPr>
              <a:t>handling</a:t>
            </a:r>
            <a:r>
              <a:rPr sz="1950" spc="28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55" dirty="0">
                <a:solidFill>
                  <a:srgbClr val="002960"/>
                </a:solidFill>
                <a:latin typeface="Times New Roman"/>
                <a:cs typeface="Times New Roman"/>
              </a:rPr>
              <a:t>large</a:t>
            </a:r>
            <a:r>
              <a:rPr sz="1950" spc="28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90" dirty="0">
                <a:solidFill>
                  <a:srgbClr val="002960"/>
                </a:solidFill>
                <a:latin typeface="Times New Roman"/>
                <a:cs typeface="Times New Roman"/>
              </a:rPr>
              <a:t>datasets </a:t>
            </a:r>
            <a:r>
              <a:rPr sz="1950" spc="120" dirty="0">
                <a:solidFill>
                  <a:srgbClr val="002960"/>
                </a:solidFill>
                <a:latin typeface="Times New Roman"/>
                <a:cs typeface="Times New Roman"/>
              </a:rPr>
              <a:t>and</a:t>
            </a:r>
            <a:r>
              <a:rPr sz="1950" spc="-13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80" dirty="0">
                <a:solidFill>
                  <a:srgbClr val="002960"/>
                </a:solidFill>
                <a:latin typeface="Times New Roman"/>
                <a:cs typeface="Times New Roman"/>
              </a:rPr>
              <a:t>creating</a:t>
            </a:r>
            <a:r>
              <a:rPr sz="1950" spc="-13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90" dirty="0">
                <a:solidFill>
                  <a:srgbClr val="002960"/>
                </a:solidFill>
                <a:latin typeface="Times New Roman"/>
                <a:cs typeface="Times New Roman"/>
              </a:rPr>
              <a:t>dynamic</a:t>
            </a:r>
            <a:r>
              <a:rPr sz="1950" spc="-12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-10" dirty="0">
                <a:solidFill>
                  <a:srgbClr val="002960"/>
                </a:solidFill>
                <a:latin typeface="Times New Roman"/>
                <a:cs typeface="Times New Roman"/>
              </a:rPr>
              <a:t>visuals.</a:t>
            </a:r>
            <a:endParaRPr sz="195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5399"/>
              </a:lnSpc>
            </a:pPr>
            <a:r>
              <a:rPr sz="1950" spc="85" dirty="0">
                <a:solidFill>
                  <a:srgbClr val="002960"/>
                </a:solidFill>
                <a:latin typeface="Times New Roman"/>
                <a:cs typeface="Times New Roman"/>
              </a:rPr>
              <a:t>Power</a:t>
            </a:r>
            <a:r>
              <a:rPr sz="1950" spc="335" dirty="0">
                <a:solidFill>
                  <a:srgbClr val="002960"/>
                </a:solidFill>
                <a:latin typeface="Times New Roman"/>
                <a:cs typeface="Times New Roman"/>
              </a:rPr>
              <a:t>  </a:t>
            </a:r>
            <a:r>
              <a:rPr sz="1950" dirty="0">
                <a:solidFill>
                  <a:srgbClr val="002960"/>
                </a:solidFill>
                <a:latin typeface="Times New Roman"/>
                <a:cs typeface="Times New Roman"/>
              </a:rPr>
              <a:t>BI's</a:t>
            </a:r>
            <a:r>
              <a:rPr sz="1950" spc="340" dirty="0">
                <a:solidFill>
                  <a:srgbClr val="002960"/>
                </a:solidFill>
                <a:latin typeface="Times New Roman"/>
                <a:cs typeface="Times New Roman"/>
              </a:rPr>
              <a:t>  </a:t>
            </a:r>
            <a:r>
              <a:rPr sz="1950" spc="85" dirty="0">
                <a:solidFill>
                  <a:srgbClr val="002960"/>
                </a:solidFill>
                <a:latin typeface="Times New Roman"/>
                <a:cs typeface="Times New Roman"/>
              </a:rPr>
              <a:t>integration</a:t>
            </a:r>
            <a:r>
              <a:rPr sz="1950" spc="340" dirty="0">
                <a:solidFill>
                  <a:srgbClr val="002960"/>
                </a:solidFill>
                <a:latin typeface="Times New Roman"/>
                <a:cs typeface="Times New Roman"/>
              </a:rPr>
              <a:t>  </a:t>
            </a:r>
            <a:r>
              <a:rPr sz="1950" spc="90" dirty="0">
                <a:solidFill>
                  <a:srgbClr val="002960"/>
                </a:solidFill>
                <a:latin typeface="Times New Roman"/>
                <a:cs typeface="Times New Roman"/>
              </a:rPr>
              <a:t>features</a:t>
            </a:r>
            <a:r>
              <a:rPr sz="1950" spc="340" dirty="0">
                <a:solidFill>
                  <a:srgbClr val="002960"/>
                </a:solidFill>
                <a:latin typeface="Times New Roman"/>
                <a:cs typeface="Times New Roman"/>
              </a:rPr>
              <a:t>  </a:t>
            </a:r>
            <a:r>
              <a:rPr sz="1950" spc="55" dirty="0">
                <a:solidFill>
                  <a:srgbClr val="002960"/>
                </a:solidFill>
                <a:latin typeface="Times New Roman"/>
                <a:cs typeface="Times New Roman"/>
              </a:rPr>
              <a:t>allowed</a:t>
            </a:r>
            <a:r>
              <a:rPr sz="1950" spc="340" dirty="0">
                <a:solidFill>
                  <a:srgbClr val="002960"/>
                </a:solidFill>
                <a:latin typeface="Times New Roman"/>
                <a:cs typeface="Times New Roman"/>
              </a:rPr>
              <a:t>  </a:t>
            </a:r>
            <a:r>
              <a:rPr sz="1950" spc="40" dirty="0">
                <a:solidFill>
                  <a:srgbClr val="002960"/>
                </a:solidFill>
                <a:latin typeface="Times New Roman"/>
                <a:cs typeface="Times New Roman"/>
              </a:rPr>
              <a:t>for </a:t>
            </a:r>
            <a:r>
              <a:rPr sz="1950" spc="70" dirty="0">
                <a:solidFill>
                  <a:srgbClr val="002960"/>
                </a:solidFill>
                <a:latin typeface="Times New Roman"/>
                <a:cs typeface="Times New Roman"/>
              </a:rPr>
              <a:t>combining</a:t>
            </a:r>
            <a:r>
              <a:rPr sz="1950" spc="17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110" dirty="0">
                <a:solidFill>
                  <a:srgbClr val="002960"/>
                </a:solidFill>
                <a:latin typeface="Times New Roman"/>
                <a:cs typeface="Times New Roman"/>
              </a:rPr>
              <a:t>data</a:t>
            </a:r>
            <a:r>
              <a:rPr sz="1950" spc="17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95" dirty="0">
                <a:solidFill>
                  <a:srgbClr val="002960"/>
                </a:solidFill>
                <a:latin typeface="Times New Roman"/>
                <a:cs typeface="Times New Roman"/>
              </a:rPr>
              <a:t>from</a:t>
            </a:r>
            <a:r>
              <a:rPr sz="1950" spc="18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75" dirty="0">
                <a:solidFill>
                  <a:srgbClr val="002960"/>
                </a:solidFill>
                <a:latin typeface="Times New Roman"/>
                <a:cs typeface="Times New Roman"/>
              </a:rPr>
              <a:t>various</a:t>
            </a:r>
            <a:r>
              <a:rPr sz="1950" spc="17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60" dirty="0">
                <a:solidFill>
                  <a:srgbClr val="002960"/>
                </a:solidFill>
                <a:latin typeface="Times New Roman"/>
                <a:cs typeface="Times New Roman"/>
              </a:rPr>
              <a:t>sources,</a:t>
            </a:r>
            <a:r>
              <a:rPr sz="1950" spc="175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70" dirty="0">
                <a:solidFill>
                  <a:srgbClr val="002960"/>
                </a:solidFill>
                <a:latin typeface="Times New Roman"/>
                <a:cs typeface="Times New Roman"/>
              </a:rPr>
              <a:t>enhancing </a:t>
            </a:r>
            <a:r>
              <a:rPr sz="1950" spc="130" dirty="0">
                <a:solidFill>
                  <a:srgbClr val="002960"/>
                </a:solidFill>
                <a:latin typeface="Times New Roman"/>
                <a:cs typeface="Times New Roman"/>
              </a:rPr>
              <a:t>the</a:t>
            </a:r>
            <a:r>
              <a:rPr sz="1950" spc="-12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50" dirty="0">
                <a:solidFill>
                  <a:srgbClr val="002960"/>
                </a:solidFill>
                <a:latin typeface="Times New Roman"/>
                <a:cs typeface="Times New Roman"/>
              </a:rPr>
              <a:t>overall</a:t>
            </a:r>
            <a:r>
              <a:rPr sz="1950" spc="-120" dirty="0">
                <a:solidFill>
                  <a:srgbClr val="002960"/>
                </a:solidFill>
                <a:latin typeface="Times New Roman"/>
                <a:cs typeface="Times New Roman"/>
              </a:rPr>
              <a:t> </a:t>
            </a:r>
            <a:r>
              <a:rPr sz="1950" spc="-10" dirty="0">
                <a:solidFill>
                  <a:srgbClr val="002960"/>
                </a:solidFill>
                <a:latin typeface="Times New Roman"/>
                <a:cs typeface="Times New Roman"/>
              </a:rPr>
              <a:t>analysis.</a:t>
            </a:r>
            <a:endParaRPr sz="1950" dirty="0">
              <a:latin typeface="Times New Roman"/>
              <a:cs typeface="Times New Roman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0048F-C2D2-EEDF-3631-A67003529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17365D6-9AF1-77FC-E356-D7CA902614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7016"/>
            <a:ext cx="13106400" cy="1158160"/>
          </a:xfrm>
          <a:prstGeom prst="rect">
            <a:avLst/>
          </a:prstGeom>
        </p:spPr>
        <p:txBody>
          <a:bodyPr vert="horz" wrap="square" lIns="0" tIns="415439" rIns="0" bIns="0" rtlCol="0">
            <a:spAutoFit/>
          </a:bodyPr>
          <a:lstStyle/>
          <a:p>
            <a:pPr marL="4234815" algn="ctr">
              <a:lnSpc>
                <a:spcPct val="100000"/>
              </a:lnSpc>
              <a:spcBef>
                <a:spcPts val="115"/>
              </a:spcBef>
            </a:pPr>
            <a:r>
              <a:rPr lang="en-US" sz="4800" dirty="0">
                <a:latin typeface="Georgia"/>
                <a:cs typeface="Georgia"/>
              </a:rPr>
              <a:t>Project Pipeline </a:t>
            </a:r>
            <a:endParaRPr sz="4800" dirty="0">
              <a:latin typeface="Georgia"/>
              <a:cs typeface="Georgia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CC90D25-32EE-9B6F-DEC2-3FC1F152F2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984254"/>
              </p:ext>
            </p:extLst>
          </p:nvPr>
        </p:nvGraphicFramePr>
        <p:xfrm>
          <a:off x="2362200" y="3467100"/>
          <a:ext cx="109728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5D3F7592-F419-3499-655D-38B1C85B4305}"/>
              </a:ext>
            </a:extLst>
          </p:cNvPr>
          <p:cNvGrpSpPr/>
          <p:nvPr/>
        </p:nvGrpSpPr>
        <p:grpSpPr>
          <a:xfrm>
            <a:off x="2396319" y="1903501"/>
            <a:ext cx="10972800" cy="1563599"/>
            <a:chOff x="0" y="1549077"/>
            <a:chExt cx="10972800" cy="1563599"/>
          </a:xfrm>
        </p:grpSpPr>
        <p:sp>
          <p:nvSpPr>
            <p:cNvPr id="14" name="Callout: Up Arrow 13">
              <a:extLst>
                <a:ext uri="{FF2B5EF4-FFF2-40B4-BE49-F238E27FC236}">
                  <a16:creationId xmlns:a16="http://schemas.microsoft.com/office/drawing/2014/main" id="{06370376-4836-E578-E962-11D42B719261}"/>
                </a:ext>
              </a:extLst>
            </p:cNvPr>
            <p:cNvSpPr/>
            <p:nvPr/>
          </p:nvSpPr>
          <p:spPr>
            <a:xfrm rot="10800000">
              <a:off x="0" y="1549077"/>
              <a:ext cx="10972800" cy="1563599"/>
            </a:xfrm>
            <a:prstGeom prst="upArrowCallou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Callout: Up Arrow 4">
              <a:extLst>
                <a:ext uri="{FF2B5EF4-FFF2-40B4-BE49-F238E27FC236}">
                  <a16:creationId xmlns:a16="http://schemas.microsoft.com/office/drawing/2014/main" id="{EE703AC3-9A4C-26C8-3090-445269726669}"/>
                </a:ext>
              </a:extLst>
            </p:cNvPr>
            <p:cNvSpPr txBox="1"/>
            <p:nvPr/>
          </p:nvSpPr>
          <p:spPr>
            <a:xfrm rot="21600000">
              <a:off x="0" y="1549077"/>
              <a:ext cx="10972800" cy="10159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6032" tIns="256032" rIns="256032" bIns="256032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600" kern="1200" dirty="0"/>
                <a:t>Extract The Data</a:t>
              </a:r>
              <a:endParaRPr lang="en-IN" sz="36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4752670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17016"/>
            <a:ext cx="14478000" cy="1158160"/>
          </a:xfrm>
          <a:prstGeom prst="rect">
            <a:avLst/>
          </a:prstGeom>
        </p:spPr>
        <p:txBody>
          <a:bodyPr vert="horz" wrap="square" lIns="0" tIns="415439" rIns="0" bIns="0" rtlCol="0">
            <a:spAutoFit/>
          </a:bodyPr>
          <a:lstStyle/>
          <a:p>
            <a:pPr marL="4234815" algn="ctr">
              <a:lnSpc>
                <a:spcPct val="100000"/>
              </a:lnSpc>
              <a:spcBef>
                <a:spcPts val="115"/>
              </a:spcBef>
            </a:pPr>
            <a:r>
              <a:rPr sz="4800" dirty="0">
                <a:latin typeface="Georgia"/>
                <a:cs typeface="Georgia"/>
              </a:rPr>
              <a:t>KPI’S</a:t>
            </a:r>
            <a:r>
              <a:rPr sz="4800" spc="-550" dirty="0">
                <a:latin typeface="Georgia"/>
                <a:cs typeface="Georgia"/>
              </a:rPr>
              <a:t> </a:t>
            </a:r>
            <a:r>
              <a:rPr sz="4800" spc="-340" dirty="0">
                <a:latin typeface="Georgia"/>
                <a:cs typeface="Georgia"/>
              </a:rPr>
              <a:t>USED</a:t>
            </a:r>
            <a:r>
              <a:rPr lang="en-US" sz="4800" spc="-340" dirty="0">
                <a:latin typeface="Georgia"/>
                <a:cs typeface="Georgia"/>
              </a:rPr>
              <a:t> IN DASHBOARD</a:t>
            </a:r>
            <a:endParaRPr sz="4800" dirty="0">
              <a:latin typeface="Georgia"/>
              <a:cs typeface="Georgia"/>
            </a:endParaRPr>
          </a:p>
        </p:txBody>
      </p:sp>
      <p:pic>
        <p:nvPicPr>
          <p:cNvPr id="10" name="Picture 9" descr="The image displays an Excel sheet with a data visualization section for an adventure works product line, featuring sales figures, profit margins, and top products, with categories such as revenue, profit, and customer data.&#10;&#10;AI-generated content may be incorrect.">
            <a:extLst>
              <a:ext uri="{FF2B5EF4-FFF2-40B4-BE49-F238E27FC236}">
                <a16:creationId xmlns:a16="http://schemas.microsoft.com/office/drawing/2014/main" id="{35A773F1-01EF-D68D-705D-C7A1AE414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5176"/>
            <a:ext cx="18135600" cy="85165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3B8AF-94E8-18A4-ACA1-823385658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6E10080-536B-0F1D-A7F3-68DC80901F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7016"/>
            <a:ext cx="13411200" cy="1158160"/>
          </a:xfrm>
          <a:prstGeom prst="rect">
            <a:avLst/>
          </a:prstGeom>
        </p:spPr>
        <p:txBody>
          <a:bodyPr vert="horz" wrap="square" lIns="0" tIns="415439" rIns="0" bIns="0" rtlCol="0">
            <a:spAutoFit/>
          </a:bodyPr>
          <a:lstStyle/>
          <a:p>
            <a:pPr marL="4234815" algn="ctr">
              <a:lnSpc>
                <a:spcPct val="100000"/>
              </a:lnSpc>
              <a:spcBef>
                <a:spcPts val="115"/>
              </a:spcBef>
            </a:pPr>
            <a:r>
              <a:rPr lang="en-IN" sz="4800" dirty="0"/>
              <a:t>📊</a:t>
            </a:r>
            <a:r>
              <a:rPr sz="4800" dirty="0">
                <a:latin typeface="Georgia"/>
                <a:cs typeface="Georgia"/>
              </a:rPr>
              <a:t>KPI’S</a:t>
            </a:r>
            <a:r>
              <a:rPr sz="4800" spc="-550" dirty="0">
                <a:latin typeface="Georgia"/>
                <a:cs typeface="Georgia"/>
              </a:rPr>
              <a:t> </a:t>
            </a:r>
            <a:r>
              <a:rPr sz="4800" spc="-340" dirty="0">
                <a:latin typeface="Georgia"/>
                <a:cs typeface="Georgia"/>
              </a:rPr>
              <a:t>USED</a:t>
            </a:r>
            <a:r>
              <a:rPr lang="en-US" sz="4800" spc="-340" dirty="0">
                <a:latin typeface="Georgia"/>
                <a:cs typeface="Georgia"/>
              </a:rPr>
              <a:t> IN DASHBOARD</a:t>
            </a:r>
            <a:endParaRPr sz="4800" dirty="0">
              <a:latin typeface="Georgia"/>
              <a:cs typeface="Georgi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6950EF-38AC-1690-22F6-75DA15C87069}"/>
              </a:ext>
            </a:extLst>
          </p:cNvPr>
          <p:cNvSpPr txBox="1"/>
          <p:nvPr/>
        </p:nvSpPr>
        <p:spPr>
          <a:xfrm>
            <a:off x="152400" y="1333500"/>
            <a:ext cx="17907000" cy="6316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Revenue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: $29M Total sales generated across all products.</a:t>
            </a:r>
          </a:p>
          <a:p>
            <a:pPr marL="457200" indent="-4572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Profit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: $12M Net earnings after deducting costs</a:t>
            </a:r>
          </a:p>
          <a:p>
            <a:pPr marL="457200" indent="-4572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Orders: 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60K Total number of customer orders fulfilled. Indicates sales volume and demand.</a:t>
            </a:r>
          </a:p>
          <a:p>
            <a:pPr marL="457200" indent="-45720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Profit Margin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: 41.14% Ratio of profit to revenue. A strong margin above 40% suggests efficient cost management and healthy profitability.</a:t>
            </a:r>
            <a:endParaRPr lang="en-IN" sz="28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1756534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0E472-F78D-F0A6-8C5E-BDDFBB0FB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CFE46E7-0BB6-824D-7184-22E2127FF0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7016"/>
            <a:ext cx="12649200" cy="1158160"/>
          </a:xfrm>
          <a:prstGeom prst="rect">
            <a:avLst/>
          </a:prstGeom>
        </p:spPr>
        <p:txBody>
          <a:bodyPr vert="horz" wrap="square" lIns="0" tIns="415439" rIns="0" bIns="0" rtlCol="0">
            <a:spAutoFit/>
          </a:bodyPr>
          <a:lstStyle/>
          <a:p>
            <a:pPr marL="4234815" algn="ctr">
              <a:lnSpc>
                <a:spcPct val="100000"/>
              </a:lnSpc>
              <a:spcBef>
                <a:spcPts val="115"/>
              </a:spcBef>
            </a:pPr>
            <a:r>
              <a:rPr lang="en-IN" sz="4800" dirty="0"/>
              <a:t>🏆Highlighted Metrics</a:t>
            </a:r>
            <a:endParaRPr sz="4800" dirty="0">
              <a:latin typeface="Georgia"/>
              <a:cs typeface="Georg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4C845D-D7B5-8FD2-5818-BF3FF701A3B8}"/>
              </a:ext>
            </a:extLst>
          </p:cNvPr>
          <p:cNvSpPr txBox="1"/>
          <p:nvPr/>
        </p:nvSpPr>
        <p:spPr>
          <a:xfrm>
            <a:off x="762000" y="1485900"/>
            <a:ext cx="17297400" cy="7609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Most Profitable Product: </a:t>
            </a:r>
            <a:r>
              <a:rPr lang="en-US" alt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Mountain-200 Black This product contributes the highest profit, making it a key driver of financial success.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Most Ordered Product: </a:t>
            </a:r>
            <a:r>
              <a:rPr lang="en-US" alt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Water Bottle – 30 oz. While not the most profitable, it has the highest sales volume, showing popularity among customers.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Top Customer: </a:t>
            </a:r>
            <a:r>
              <a:rPr lang="en-US" alt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Nichole Nara Identifies the most valuable customer, useful for loyalty programs and targeted marketing.</a:t>
            </a:r>
          </a:p>
        </p:txBody>
      </p:sp>
    </p:spTree>
    <p:extLst>
      <p:ext uri="{BB962C8B-B14F-4D97-AF65-F5344CB8AC3E}">
        <p14:creationId xmlns:p14="http://schemas.microsoft.com/office/powerpoint/2010/main" val="169849377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5765A-2E30-6536-BC7D-820E3523B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754335B-B3A0-F105-F967-74FBE50AFB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7016"/>
            <a:ext cx="13030200" cy="1158160"/>
          </a:xfrm>
          <a:prstGeom prst="rect">
            <a:avLst/>
          </a:prstGeom>
        </p:spPr>
        <p:txBody>
          <a:bodyPr vert="horz" wrap="square" lIns="0" tIns="415439" rIns="0" bIns="0" rtlCol="0">
            <a:spAutoFit/>
          </a:bodyPr>
          <a:lstStyle/>
          <a:p>
            <a:pPr marL="4234815" algn="ctr">
              <a:lnSpc>
                <a:spcPct val="100000"/>
              </a:lnSpc>
              <a:spcBef>
                <a:spcPts val="115"/>
              </a:spcBef>
            </a:pPr>
            <a:r>
              <a:rPr lang="en-IN" sz="4800" dirty="0"/>
              <a:t>📈Visualizations</a:t>
            </a:r>
            <a:endParaRPr sz="4800" dirty="0">
              <a:latin typeface="Georgia"/>
              <a:cs typeface="Georg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6B5A25-DE05-2B4D-DD60-292A97E79F0B}"/>
              </a:ext>
            </a:extLst>
          </p:cNvPr>
          <p:cNvSpPr txBox="1"/>
          <p:nvPr/>
        </p:nvSpPr>
        <p:spPr>
          <a:xfrm>
            <a:off x="495300" y="1409700"/>
            <a:ext cx="17297400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FFFF"/>
                </a:solidFill>
                <a:latin typeface="Times New Roman"/>
                <a:cs typeface="Times New Roman"/>
              </a:rPr>
              <a:t>Orders by Category (Bar Chart)</a:t>
            </a:r>
          </a:p>
          <a:p>
            <a:endParaRPr lang="en-US" sz="2800" b="1" u="sng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Accessories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: 36K orders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Bikes: 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15K orders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Clothing: 9K orders → 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Accessories dominate in volume, though bikes likely drive higher revenue per order</a:t>
            </a:r>
            <a:r>
              <a:rPr lang="en-US"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r>
              <a:rPr lang="en-US"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Revenue Trendline (2010–2014) : 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Shows steady growth, peaking at $16.4M in 2013. Indicates strong upward momentum before stabilizing</a:t>
            </a:r>
            <a:r>
              <a:rPr lang="en-US" sz="2800" dirty="0"/>
              <a:t>.</a:t>
            </a:r>
          </a:p>
          <a:p>
            <a:endParaRPr lang="en-US" sz="280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r>
              <a:rPr lang="en-US"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Top 10 Products (Table) : 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Lists revenue, orders, and profit for leading products. Mountain-200 (Black &amp; Silver) and Road-150 Red variants are consistently high performers.</a:t>
            </a:r>
          </a:p>
          <a:p>
            <a:endParaRPr lang="en-US" sz="280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r>
              <a:rPr lang="en-US" sz="2800" b="1" u="sng" dirty="0">
                <a:solidFill>
                  <a:srgbClr val="FFFFFF"/>
                </a:solidFill>
                <a:latin typeface="Times New Roman"/>
                <a:cs typeface="Times New Roman"/>
              </a:rPr>
              <a:t>Profit Distribution (Pie Chart)</a:t>
            </a:r>
          </a:p>
          <a:p>
            <a:endParaRPr lang="en-US" sz="2800" b="1" u="sng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Road Bikes: $6M (46.9%)</a:t>
            </a:r>
          </a:p>
          <a:p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Mountain Bikes: $5M (38.25%)</a:t>
            </a:r>
          </a:p>
          <a:p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Touring Bikes: $1M (12.33%)</a:t>
            </a:r>
          </a:p>
          <a:p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Smaller shares: Tires, Tubes, Helmets → Road bikes are the largest profit contributor, followed closely by mountain bikes.</a:t>
            </a:r>
          </a:p>
          <a:p>
            <a:endParaRPr lang="en-US" sz="28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6931920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C39AA-0622-0942-2DFD-159B5098C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D65A778-6C51-3AC8-1F55-E8FE7908C8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7016"/>
            <a:ext cx="13335000" cy="1158160"/>
          </a:xfrm>
          <a:prstGeom prst="rect">
            <a:avLst/>
          </a:prstGeom>
        </p:spPr>
        <p:txBody>
          <a:bodyPr vert="horz" wrap="square" lIns="0" tIns="415439" rIns="0" bIns="0" rtlCol="0">
            <a:spAutoFit/>
          </a:bodyPr>
          <a:lstStyle/>
          <a:p>
            <a:pPr marL="4234815" algn="ctr">
              <a:lnSpc>
                <a:spcPct val="100000"/>
              </a:lnSpc>
              <a:spcBef>
                <a:spcPts val="115"/>
              </a:spcBef>
            </a:pPr>
            <a:r>
              <a:rPr lang="en-IN" sz="4800" dirty="0"/>
              <a:t>📈Visualizations</a:t>
            </a:r>
            <a:endParaRPr sz="4800" dirty="0">
              <a:latin typeface="Georgia"/>
              <a:cs typeface="Georg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0CB6D1-411F-6864-23A6-573178715D9C}"/>
              </a:ext>
            </a:extLst>
          </p:cNvPr>
          <p:cNvSpPr txBox="1"/>
          <p:nvPr/>
        </p:nvSpPr>
        <p:spPr>
          <a:xfrm>
            <a:off x="762000" y="2324100"/>
            <a:ext cx="1737360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🎯 </a:t>
            </a:r>
            <a:r>
              <a:rPr lang="en-US" sz="2800" b="1" u="sng" dirty="0">
                <a:solidFill>
                  <a:srgbClr val="FFFFFF"/>
                </a:solidFill>
                <a:latin typeface="Times New Roman"/>
                <a:cs typeface="Times New Roman"/>
              </a:rPr>
              <a:t>Performance vs Targets</a:t>
            </a:r>
          </a:p>
          <a:p>
            <a:endParaRPr lang="en-US" sz="2800" b="1" u="sng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Previous Month Orders: 871 (Goal: 871) → Target met exactly.</a:t>
            </a:r>
          </a:p>
          <a:p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Previous Month Revenue: $45.64K (Goal: $45.642K) → Target achieved with near-perfect accuracy</a:t>
            </a:r>
          </a:p>
          <a:p>
            <a:endParaRPr lang="en-US" sz="2800" dirty="0">
              <a:solidFill>
                <a:srgbClr val="FFFFFF"/>
              </a:solidFill>
              <a:effectLst/>
              <a:latin typeface="Times New Roman"/>
              <a:cs typeface="Times New Roman"/>
            </a:endParaRPr>
          </a:p>
          <a:p>
            <a:endParaRPr lang="en-US" sz="280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✅ </a:t>
            </a:r>
            <a:r>
              <a:rPr lang="en-US" sz="2800" b="1" u="sng" dirty="0">
                <a:solidFill>
                  <a:srgbClr val="FFFFFF"/>
                </a:solidFill>
                <a:latin typeface="Times New Roman"/>
                <a:cs typeface="Times New Roman"/>
              </a:rPr>
              <a:t>Overall Insight</a:t>
            </a:r>
          </a:p>
          <a:p>
            <a:endParaRPr lang="en-US" sz="2800" b="1" u="sng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The dashboard shows a profitable and growing business, with strong margins, balanced product mix, and reliable target achievement. Accessories drive order volume, while bikes (especially Mountain-200 and Road-150) generate the bulk of revenue and profit. Customer loyalty is evident, with top buyers contributing significantly.</a:t>
            </a:r>
          </a:p>
          <a:p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976032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2184D-DF88-1FEE-7D01-12FB35C55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4B97B16-693E-E135-AAAE-D2C23B3827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7016"/>
            <a:ext cx="13106400" cy="1158160"/>
          </a:xfrm>
          <a:prstGeom prst="rect">
            <a:avLst/>
          </a:prstGeom>
        </p:spPr>
        <p:txBody>
          <a:bodyPr vert="horz" wrap="square" lIns="0" tIns="415439" rIns="0" bIns="0" rtlCol="0">
            <a:spAutoFit/>
          </a:bodyPr>
          <a:lstStyle/>
          <a:p>
            <a:pPr marL="4234815" algn="ctr">
              <a:lnSpc>
                <a:spcPct val="100000"/>
              </a:lnSpc>
              <a:spcBef>
                <a:spcPts val="115"/>
              </a:spcBef>
            </a:pPr>
            <a:r>
              <a:rPr lang="en-IN" sz="4800" b="1" dirty="0"/>
              <a:t>Actionable Insights</a:t>
            </a:r>
            <a:r>
              <a:rPr lang="en-IN" sz="4800" dirty="0"/>
              <a:t> </a:t>
            </a:r>
            <a:endParaRPr sz="4800" dirty="0">
              <a:latin typeface="Georgia"/>
              <a:cs typeface="Georg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7F1104-453F-58D0-0AB7-137FC1C0C97F}"/>
              </a:ext>
            </a:extLst>
          </p:cNvPr>
          <p:cNvSpPr txBox="1"/>
          <p:nvPr/>
        </p:nvSpPr>
        <p:spPr>
          <a:xfrm>
            <a:off x="609600" y="1638300"/>
            <a:ext cx="17373600" cy="8125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🚀 </a:t>
            </a:r>
            <a:r>
              <a:rPr lang="en-US" sz="2800" b="1" u="sng" dirty="0">
                <a:solidFill>
                  <a:srgbClr val="FFFFFF"/>
                </a:solidFill>
                <a:latin typeface="Times New Roman"/>
                <a:cs typeface="Times New Roman"/>
              </a:rPr>
              <a:t>Growth &amp; Sales Strategy</a:t>
            </a:r>
          </a:p>
          <a:p>
            <a:endParaRPr lang="en-US" sz="2800" b="1" u="sng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Leverage Accessories for Upselling Accessories account for the highest order volume (36K). Bundle them with bikes or clothing to increase average order value. Example: offer discounts on helmets or water bottles with bike purchases.</a:t>
            </a:r>
          </a:p>
          <a:p>
            <a:endParaRPr lang="en-US" sz="280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Capitalize on Bike Profitability Although bikes have fewer orders than accessories, they generate the majority of revenue and profit. Focus marketing campaigns on premium bike models (Mountain-200, Road-150) to maximize profitability.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r>
              <a:rPr lang="en-US" sz="2800" b="1" u="sng" dirty="0">
                <a:solidFill>
                  <a:srgbClr val="FFFFFF"/>
                </a:solidFill>
                <a:latin typeface="Times New Roman"/>
                <a:cs typeface="Times New Roman"/>
              </a:rPr>
              <a:t>🎯 Customer &amp; Market Focus</a:t>
            </a:r>
          </a:p>
          <a:p>
            <a:endParaRPr lang="en-US" sz="2800" b="1" u="sng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Reward Top Customers Nichole Nara is the top customer. Implement loyalty rewards or personalized offers to retain and expand high-value customers.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Target Repeat Buyers of Popular Products Water Bottle – 30 oz. is the most ordered product. Use this insight to cross-sell higher-margin items to these customers.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59862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F88D6-7CE3-473B-EBC6-3D91969FD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28C3618A-61BA-1A3F-EEA9-2510FBE888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7016"/>
            <a:ext cx="13106400" cy="1158160"/>
          </a:xfrm>
          <a:prstGeom prst="rect">
            <a:avLst/>
          </a:prstGeom>
        </p:spPr>
        <p:txBody>
          <a:bodyPr vert="horz" wrap="square" lIns="0" tIns="415439" rIns="0" bIns="0" rtlCol="0">
            <a:spAutoFit/>
          </a:bodyPr>
          <a:lstStyle/>
          <a:p>
            <a:pPr marL="4234815" algn="ctr">
              <a:lnSpc>
                <a:spcPct val="100000"/>
              </a:lnSpc>
              <a:spcBef>
                <a:spcPts val="115"/>
              </a:spcBef>
            </a:pPr>
            <a:r>
              <a:rPr lang="en-IN" sz="4800" b="1" dirty="0"/>
              <a:t>Actionable Insights</a:t>
            </a:r>
            <a:r>
              <a:rPr lang="en-IN" sz="4800" dirty="0"/>
              <a:t> </a:t>
            </a:r>
            <a:endParaRPr sz="4800" dirty="0">
              <a:latin typeface="Georgia"/>
              <a:cs typeface="Georg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C7AD3D-9422-EDFA-C99D-19AF9CFF0134}"/>
              </a:ext>
            </a:extLst>
          </p:cNvPr>
          <p:cNvSpPr txBox="1"/>
          <p:nvPr/>
        </p:nvSpPr>
        <p:spPr>
          <a:xfrm>
            <a:off x="457200" y="1714500"/>
            <a:ext cx="17373600" cy="769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FFFF"/>
                </a:solidFill>
                <a:latin typeface="Times New Roman"/>
                <a:cs typeface="Times New Roman"/>
              </a:rPr>
              <a:t>🔑 Action Priorities</a:t>
            </a:r>
          </a:p>
          <a:p>
            <a:endParaRPr lang="en-US" sz="2800" b="1" u="sng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>
              <a:lnSpc>
                <a:spcPct val="200000"/>
              </a:lnSpc>
            </a:pPr>
            <a:endParaRPr lang="en-US" sz="2800" b="1" u="sng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Upsell accessories with bikes to lift margins.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Expand profitable bike lines (Mountain-200, Road-150).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Introduce loyalty programs for top customers.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Cross-sell higher-margin items to frequent accessory buyers.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Optimize inventory by trimming low-profit categories.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Explore new markets/channels to reignite revenue growth</a:t>
            </a:r>
            <a:r>
              <a:rPr lang="en-US" sz="2800" dirty="0">
                <a:effectLst/>
              </a:rPr>
              <a:t>.</a:t>
            </a:r>
            <a:endParaRPr lang="en-US" sz="2800" dirty="0"/>
          </a:p>
          <a:p>
            <a:endParaRPr lang="en-US" sz="2800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50475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9F32F-7205-2F1D-C2CE-395CF5734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69C6C1E-5B3D-4729-FD5B-6DDFD65597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7016"/>
            <a:ext cx="13106400" cy="1158160"/>
          </a:xfrm>
          <a:prstGeom prst="rect">
            <a:avLst/>
          </a:prstGeom>
        </p:spPr>
        <p:txBody>
          <a:bodyPr vert="horz" wrap="square" lIns="0" tIns="415439" rIns="0" bIns="0" rtlCol="0">
            <a:spAutoFit/>
          </a:bodyPr>
          <a:lstStyle/>
          <a:p>
            <a:pPr marL="4234815" algn="ctr">
              <a:lnSpc>
                <a:spcPct val="100000"/>
              </a:lnSpc>
              <a:spcBef>
                <a:spcPts val="115"/>
              </a:spcBef>
            </a:pPr>
            <a:r>
              <a:rPr lang="en-IN" sz="4800" dirty="0"/>
              <a:t>📊 </a:t>
            </a:r>
            <a:r>
              <a:rPr lang="en-IN" sz="4800" b="1" dirty="0"/>
              <a:t>Conclusion</a:t>
            </a:r>
            <a:endParaRPr sz="4800" dirty="0">
              <a:latin typeface="Georgia"/>
              <a:cs typeface="Georg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E5F4E9-3C96-68AC-C66F-F692819424CE}"/>
              </a:ext>
            </a:extLst>
          </p:cNvPr>
          <p:cNvSpPr txBox="1"/>
          <p:nvPr/>
        </p:nvSpPr>
        <p:spPr>
          <a:xfrm>
            <a:off x="685800" y="2095500"/>
            <a:ext cx="17373600" cy="313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800" b="1" dirty="0">
                <a:solidFill>
                  <a:srgbClr val="FFFFFF"/>
                </a:solidFill>
                <a:latin typeface="Times New Roman"/>
                <a:cs typeface="Times New Roman"/>
              </a:rPr>
              <a:t>Adventure Works is profitable and well-balanced, with bikes as the profit backbone and accessories sustaining volume. The company should focus on sustaining bike profitability while leveraging accessory sales for steady order flow</a:t>
            </a:r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lang="en-IN" sz="2800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315676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0160" y="0"/>
            <a:ext cx="17427575" cy="10274300"/>
            <a:chOff x="740160" y="0"/>
            <a:chExt cx="17427575" cy="10274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160" y="0"/>
              <a:ext cx="15696433" cy="102742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832399" y="0"/>
              <a:ext cx="7287259" cy="5727700"/>
            </a:xfrm>
            <a:custGeom>
              <a:avLst/>
              <a:gdLst/>
              <a:ahLst/>
              <a:cxnLst/>
              <a:rect l="l" t="t" r="r" b="b"/>
              <a:pathLst>
                <a:path w="7287259" h="5727700">
                  <a:moveTo>
                    <a:pt x="4440195" y="5651499"/>
                  </a:moveTo>
                  <a:lnTo>
                    <a:pt x="2846777" y="5651499"/>
                  </a:lnTo>
                  <a:lnTo>
                    <a:pt x="2405480" y="5524499"/>
                  </a:lnTo>
                  <a:lnTo>
                    <a:pt x="2362662" y="5499099"/>
                  </a:lnTo>
                  <a:lnTo>
                    <a:pt x="2277792" y="5473699"/>
                  </a:lnTo>
                  <a:lnTo>
                    <a:pt x="2235747" y="5448299"/>
                  </a:lnTo>
                  <a:lnTo>
                    <a:pt x="2193967" y="5435599"/>
                  </a:lnTo>
                  <a:lnTo>
                    <a:pt x="2152457" y="5410199"/>
                  </a:lnTo>
                  <a:lnTo>
                    <a:pt x="2111219" y="5397499"/>
                  </a:lnTo>
                  <a:lnTo>
                    <a:pt x="2070259" y="5372099"/>
                  </a:lnTo>
                  <a:lnTo>
                    <a:pt x="2029579" y="5359399"/>
                  </a:lnTo>
                  <a:lnTo>
                    <a:pt x="1989184" y="5333999"/>
                  </a:lnTo>
                  <a:lnTo>
                    <a:pt x="1949077" y="5321299"/>
                  </a:lnTo>
                  <a:lnTo>
                    <a:pt x="1869744" y="5270499"/>
                  </a:lnTo>
                  <a:lnTo>
                    <a:pt x="1830526" y="5257799"/>
                  </a:lnTo>
                  <a:lnTo>
                    <a:pt x="1714709" y="5181599"/>
                  </a:lnTo>
                  <a:lnTo>
                    <a:pt x="1601729" y="5105399"/>
                  </a:lnTo>
                  <a:lnTo>
                    <a:pt x="1491690" y="5029199"/>
                  </a:lnTo>
                  <a:lnTo>
                    <a:pt x="1420017" y="4978399"/>
                  </a:lnTo>
                  <a:lnTo>
                    <a:pt x="1349727" y="4927599"/>
                  </a:lnTo>
                  <a:lnTo>
                    <a:pt x="1315111" y="4889499"/>
                  </a:lnTo>
                  <a:lnTo>
                    <a:pt x="1246955" y="4838699"/>
                  </a:lnTo>
                  <a:lnTo>
                    <a:pt x="1213423" y="4800599"/>
                  </a:lnTo>
                  <a:lnTo>
                    <a:pt x="1147470" y="4749799"/>
                  </a:lnTo>
                  <a:lnTo>
                    <a:pt x="1115057" y="4711699"/>
                  </a:lnTo>
                  <a:lnTo>
                    <a:pt x="1083025" y="4686299"/>
                  </a:lnTo>
                  <a:lnTo>
                    <a:pt x="1051376" y="4648199"/>
                  </a:lnTo>
                  <a:lnTo>
                    <a:pt x="1020116" y="4622799"/>
                  </a:lnTo>
                  <a:lnTo>
                    <a:pt x="989249" y="4584699"/>
                  </a:lnTo>
                  <a:lnTo>
                    <a:pt x="958777" y="4559299"/>
                  </a:lnTo>
                  <a:lnTo>
                    <a:pt x="928705" y="4521199"/>
                  </a:lnTo>
                  <a:lnTo>
                    <a:pt x="899036" y="4483099"/>
                  </a:lnTo>
                  <a:lnTo>
                    <a:pt x="869775" y="4457699"/>
                  </a:lnTo>
                  <a:lnTo>
                    <a:pt x="840925" y="4419599"/>
                  </a:lnTo>
                  <a:lnTo>
                    <a:pt x="812491" y="4381499"/>
                  </a:lnTo>
                  <a:lnTo>
                    <a:pt x="784475" y="4343399"/>
                  </a:lnTo>
                  <a:lnTo>
                    <a:pt x="756883" y="4317999"/>
                  </a:lnTo>
                  <a:lnTo>
                    <a:pt x="729717" y="4279899"/>
                  </a:lnTo>
                  <a:lnTo>
                    <a:pt x="702981" y="4241799"/>
                  </a:lnTo>
                  <a:lnTo>
                    <a:pt x="676680" y="4203699"/>
                  </a:lnTo>
                  <a:lnTo>
                    <a:pt x="650817" y="4165599"/>
                  </a:lnTo>
                  <a:lnTo>
                    <a:pt x="625396" y="4127499"/>
                  </a:lnTo>
                  <a:lnTo>
                    <a:pt x="600421" y="4089399"/>
                  </a:lnTo>
                  <a:lnTo>
                    <a:pt x="575896" y="4051299"/>
                  </a:lnTo>
                  <a:lnTo>
                    <a:pt x="551824" y="4013199"/>
                  </a:lnTo>
                  <a:lnTo>
                    <a:pt x="528210" y="3975099"/>
                  </a:lnTo>
                  <a:lnTo>
                    <a:pt x="505057" y="3936999"/>
                  </a:lnTo>
                  <a:lnTo>
                    <a:pt x="482369" y="3898899"/>
                  </a:lnTo>
                  <a:lnTo>
                    <a:pt x="460150" y="3860799"/>
                  </a:lnTo>
                  <a:lnTo>
                    <a:pt x="438403" y="3822699"/>
                  </a:lnTo>
                  <a:lnTo>
                    <a:pt x="417134" y="3784599"/>
                  </a:lnTo>
                  <a:lnTo>
                    <a:pt x="396345" y="3746499"/>
                  </a:lnTo>
                  <a:lnTo>
                    <a:pt x="376040" y="3708399"/>
                  </a:lnTo>
                  <a:lnTo>
                    <a:pt x="356223" y="3657599"/>
                  </a:lnTo>
                  <a:lnTo>
                    <a:pt x="336898" y="3619499"/>
                  </a:lnTo>
                  <a:lnTo>
                    <a:pt x="318069" y="3581399"/>
                  </a:lnTo>
                  <a:lnTo>
                    <a:pt x="299740" y="3543299"/>
                  </a:lnTo>
                  <a:lnTo>
                    <a:pt x="281914" y="3492499"/>
                  </a:lnTo>
                  <a:lnTo>
                    <a:pt x="264595" y="3454399"/>
                  </a:lnTo>
                  <a:lnTo>
                    <a:pt x="247788" y="3416299"/>
                  </a:lnTo>
                  <a:lnTo>
                    <a:pt x="231495" y="3365499"/>
                  </a:lnTo>
                  <a:lnTo>
                    <a:pt x="215722" y="3327399"/>
                  </a:lnTo>
                  <a:lnTo>
                    <a:pt x="200471" y="3289299"/>
                  </a:lnTo>
                  <a:lnTo>
                    <a:pt x="185747" y="3238499"/>
                  </a:lnTo>
                  <a:lnTo>
                    <a:pt x="171553" y="3200399"/>
                  </a:lnTo>
                  <a:lnTo>
                    <a:pt x="157893" y="3149599"/>
                  </a:lnTo>
                  <a:lnTo>
                    <a:pt x="144772" y="3111499"/>
                  </a:lnTo>
                  <a:lnTo>
                    <a:pt x="132192" y="3060699"/>
                  </a:lnTo>
                  <a:lnTo>
                    <a:pt x="120158" y="3022599"/>
                  </a:lnTo>
                  <a:lnTo>
                    <a:pt x="108674" y="2971799"/>
                  </a:lnTo>
                  <a:lnTo>
                    <a:pt x="97743" y="2933699"/>
                  </a:lnTo>
                  <a:lnTo>
                    <a:pt x="87369" y="2882899"/>
                  </a:lnTo>
                  <a:lnTo>
                    <a:pt x="77556" y="2844799"/>
                  </a:lnTo>
                  <a:lnTo>
                    <a:pt x="68309" y="2793999"/>
                  </a:lnTo>
                  <a:lnTo>
                    <a:pt x="59630" y="2755899"/>
                  </a:lnTo>
                  <a:lnTo>
                    <a:pt x="51524" y="2705099"/>
                  </a:lnTo>
                  <a:lnTo>
                    <a:pt x="43994" y="2654299"/>
                  </a:lnTo>
                  <a:lnTo>
                    <a:pt x="37045" y="2616199"/>
                  </a:lnTo>
                  <a:lnTo>
                    <a:pt x="30679" y="2565399"/>
                  </a:lnTo>
                  <a:lnTo>
                    <a:pt x="24902" y="2514599"/>
                  </a:lnTo>
                  <a:lnTo>
                    <a:pt x="19716" y="2476499"/>
                  </a:lnTo>
                  <a:lnTo>
                    <a:pt x="15127" y="2425699"/>
                  </a:lnTo>
                  <a:lnTo>
                    <a:pt x="11136" y="2374899"/>
                  </a:lnTo>
                  <a:lnTo>
                    <a:pt x="7749" y="2324099"/>
                  </a:lnTo>
                  <a:lnTo>
                    <a:pt x="4970" y="2285999"/>
                  </a:lnTo>
                  <a:lnTo>
                    <a:pt x="2801" y="2235199"/>
                  </a:lnTo>
                  <a:lnTo>
                    <a:pt x="1247" y="2184399"/>
                  </a:lnTo>
                  <a:lnTo>
                    <a:pt x="312" y="2133599"/>
                  </a:lnTo>
                  <a:lnTo>
                    <a:pt x="0" y="2095499"/>
                  </a:lnTo>
                  <a:lnTo>
                    <a:pt x="312" y="2044699"/>
                  </a:lnTo>
                  <a:lnTo>
                    <a:pt x="1247" y="1993899"/>
                  </a:lnTo>
                  <a:lnTo>
                    <a:pt x="2801" y="1943099"/>
                  </a:lnTo>
                  <a:lnTo>
                    <a:pt x="4970" y="1892299"/>
                  </a:lnTo>
                  <a:lnTo>
                    <a:pt x="7749" y="1854199"/>
                  </a:lnTo>
                  <a:lnTo>
                    <a:pt x="11136" y="1803399"/>
                  </a:lnTo>
                  <a:lnTo>
                    <a:pt x="15127" y="1752599"/>
                  </a:lnTo>
                  <a:lnTo>
                    <a:pt x="19716" y="1714499"/>
                  </a:lnTo>
                  <a:lnTo>
                    <a:pt x="24902" y="1663699"/>
                  </a:lnTo>
                  <a:lnTo>
                    <a:pt x="30679" y="1612899"/>
                  </a:lnTo>
                  <a:lnTo>
                    <a:pt x="37045" y="1574799"/>
                  </a:lnTo>
                  <a:lnTo>
                    <a:pt x="43994" y="1523999"/>
                  </a:lnTo>
                  <a:lnTo>
                    <a:pt x="51524" y="1473199"/>
                  </a:lnTo>
                  <a:lnTo>
                    <a:pt x="59630" y="1435099"/>
                  </a:lnTo>
                  <a:lnTo>
                    <a:pt x="68309" y="1384299"/>
                  </a:lnTo>
                  <a:lnTo>
                    <a:pt x="77556" y="1333499"/>
                  </a:lnTo>
                  <a:lnTo>
                    <a:pt x="87369" y="1295399"/>
                  </a:lnTo>
                  <a:lnTo>
                    <a:pt x="97743" y="1244599"/>
                  </a:lnTo>
                  <a:lnTo>
                    <a:pt x="108674" y="1206499"/>
                  </a:lnTo>
                  <a:lnTo>
                    <a:pt x="120158" y="1155699"/>
                  </a:lnTo>
                  <a:lnTo>
                    <a:pt x="132192" y="1117599"/>
                  </a:lnTo>
                  <a:lnTo>
                    <a:pt x="144772" y="1066799"/>
                  </a:lnTo>
                  <a:lnTo>
                    <a:pt x="157893" y="1028699"/>
                  </a:lnTo>
                  <a:lnTo>
                    <a:pt x="171553" y="977899"/>
                  </a:lnTo>
                  <a:lnTo>
                    <a:pt x="185747" y="939799"/>
                  </a:lnTo>
                  <a:lnTo>
                    <a:pt x="200471" y="901699"/>
                  </a:lnTo>
                  <a:lnTo>
                    <a:pt x="215722" y="850899"/>
                  </a:lnTo>
                  <a:lnTo>
                    <a:pt x="231495" y="812799"/>
                  </a:lnTo>
                  <a:lnTo>
                    <a:pt x="247788" y="761999"/>
                  </a:lnTo>
                  <a:lnTo>
                    <a:pt x="264595" y="723899"/>
                  </a:lnTo>
                  <a:lnTo>
                    <a:pt x="281914" y="685799"/>
                  </a:lnTo>
                  <a:lnTo>
                    <a:pt x="299740" y="634999"/>
                  </a:lnTo>
                  <a:lnTo>
                    <a:pt x="318069" y="596899"/>
                  </a:lnTo>
                  <a:lnTo>
                    <a:pt x="336898" y="558799"/>
                  </a:lnTo>
                  <a:lnTo>
                    <a:pt x="356223" y="520699"/>
                  </a:lnTo>
                  <a:lnTo>
                    <a:pt x="376040" y="482599"/>
                  </a:lnTo>
                  <a:lnTo>
                    <a:pt x="396345" y="431799"/>
                  </a:lnTo>
                  <a:lnTo>
                    <a:pt x="417134" y="393699"/>
                  </a:lnTo>
                  <a:lnTo>
                    <a:pt x="438403" y="355599"/>
                  </a:lnTo>
                  <a:lnTo>
                    <a:pt x="460150" y="317499"/>
                  </a:lnTo>
                  <a:lnTo>
                    <a:pt x="482369" y="279399"/>
                  </a:lnTo>
                  <a:lnTo>
                    <a:pt x="505057" y="241299"/>
                  </a:lnTo>
                  <a:lnTo>
                    <a:pt x="528210" y="203199"/>
                  </a:lnTo>
                  <a:lnTo>
                    <a:pt x="551824" y="165099"/>
                  </a:lnTo>
                  <a:lnTo>
                    <a:pt x="575896" y="126999"/>
                  </a:lnTo>
                  <a:lnTo>
                    <a:pt x="600421" y="88899"/>
                  </a:lnTo>
                  <a:lnTo>
                    <a:pt x="625396" y="50799"/>
                  </a:lnTo>
                  <a:lnTo>
                    <a:pt x="650817" y="12699"/>
                  </a:lnTo>
                  <a:lnTo>
                    <a:pt x="666942" y="0"/>
                  </a:lnTo>
                  <a:lnTo>
                    <a:pt x="6620030" y="0"/>
                  </a:lnTo>
                  <a:lnTo>
                    <a:pt x="6661576" y="50799"/>
                  </a:lnTo>
                  <a:lnTo>
                    <a:pt x="6686551" y="88899"/>
                  </a:lnTo>
                  <a:lnTo>
                    <a:pt x="6711076" y="126999"/>
                  </a:lnTo>
                  <a:lnTo>
                    <a:pt x="6735148" y="165099"/>
                  </a:lnTo>
                  <a:lnTo>
                    <a:pt x="6758763" y="203199"/>
                  </a:lnTo>
                  <a:lnTo>
                    <a:pt x="6781916" y="241299"/>
                  </a:lnTo>
                  <a:lnTo>
                    <a:pt x="6804604" y="279399"/>
                  </a:lnTo>
                  <a:lnTo>
                    <a:pt x="6826823" y="317499"/>
                  </a:lnTo>
                  <a:lnTo>
                    <a:pt x="6848569" y="355599"/>
                  </a:lnTo>
                  <a:lnTo>
                    <a:pt x="6869839" y="393699"/>
                  </a:lnTo>
                  <a:lnTo>
                    <a:pt x="6890628" y="431799"/>
                  </a:lnTo>
                  <a:lnTo>
                    <a:pt x="6910933" y="482599"/>
                  </a:lnTo>
                  <a:lnTo>
                    <a:pt x="6930750" y="520699"/>
                  </a:lnTo>
                  <a:lnTo>
                    <a:pt x="6950074" y="558799"/>
                  </a:lnTo>
                  <a:lnTo>
                    <a:pt x="6968903" y="596899"/>
                  </a:lnTo>
                  <a:lnTo>
                    <a:pt x="6987233" y="634999"/>
                  </a:lnTo>
                  <a:lnTo>
                    <a:pt x="7005059" y="685799"/>
                  </a:lnTo>
                  <a:lnTo>
                    <a:pt x="7022377" y="723899"/>
                  </a:lnTo>
                  <a:lnTo>
                    <a:pt x="7039185" y="761999"/>
                  </a:lnTo>
                  <a:lnTo>
                    <a:pt x="7055477" y="812799"/>
                  </a:lnTo>
                  <a:lnTo>
                    <a:pt x="7071250" y="850899"/>
                  </a:lnTo>
                  <a:lnTo>
                    <a:pt x="7086501" y="901699"/>
                  </a:lnTo>
                  <a:lnTo>
                    <a:pt x="7101225" y="939799"/>
                  </a:lnTo>
                  <a:lnTo>
                    <a:pt x="7115419" y="977899"/>
                  </a:lnTo>
                  <a:lnTo>
                    <a:pt x="7129079" y="1028699"/>
                  </a:lnTo>
                  <a:lnTo>
                    <a:pt x="7142201" y="1066799"/>
                  </a:lnTo>
                  <a:lnTo>
                    <a:pt x="7154780" y="1117599"/>
                  </a:lnTo>
                  <a:lnTo>
                    <a:pt x="7166814" y="1155699"/>
                  </a:lnTo>
                  <a:lnTo>
                    <a:pt x="7178299" y="1206499"/>
                  </a:lnTo>
                  <a:lnTo>
                    <a:pt x="7189230" y="1244599"/>
                  </a:lnTo>
                  <a:lnTo>
                    <a:pt x="7199603" y="1295399"/>
                  </a:lnTo>
                  <a:lnTo>
                    <a:pt x="7209416" y="1333499"/>
                  </a:lnTo>
                  <a:lnTo>
                    <a:pt x="7218663" y="1384299"/>
                  </a:lnTo>
                  <a:lnTo>
                    <a:pt x="7227342" y="1435099"/>
                  </a:lnTo>
                  <a:lnTo>
                    <a:pt x="7235448" y="1473199"/>
                  </a:lnTo>
                  <a:lnTo>
                    <a:pt x="7242978" y="1523999"/>
                  </a:lnTo>
                  <a:lnTo>
                    <a:pt x="7249928" y="1574799"/>
                  </a:lnTo>
                  <a:lnTo>
                    <a:pt x="7256293" y="1612899"/>
                  </a:lnTo>
                  <a:lnTo>
                    <a:pt x="7262070" y="1663699"/>
                  </a:lnTo>
                  <a:lnTo>
                    <a:pt x="7267256" y="1714499"/>
                  </a:lnTo>
                  <a:lnTo>
                    <a:pt x="7271846" y="1752599"/>
                  </a:lnTo>
                  <a:lnTo>
                    <a:pt x="7275836" y="1803399"/>
                  </a:lnTo>
                  <a:lnTo>
                    <a:pt x="7279223" y="1854199"/>
                  </a:lnTo>
                  <a:lnTo>
                    <a:pt x="7282003" y="1892299"/>
                  </a:lnTo>
                  <a:lnTo>
                    <a:pt x="7284171" y="1943099"/>
                  </a:lnTo>
                  <a:lnTo>
                    <a:pt x="7285725" y="1993899"/>
                  </a:lnTo>
                  <a:lnTo>
                    <a:pt x="7286660" y="2044699"/>
                  </a:lnTo>
                  <a:lnTo>
                    <a:pt x="7286972" y="2095499"/>
                  </a:lnTo>
                  <a:lnTo>
                    <a:pt x="7286660" y="2133599"/>
                  </a:lnTo>
                  <a:lnTo>
                    <a:pt x="7285725" y="2184399"/>
                  </a:lnTo>
                  <a:lnTo>
                    <a:pt x="7284171" y="2235199"/>
                  </a:lnTo>
                  <a:lnTo>
                    <a:pt x="7282003" y="2285999"/>
                  </a:lnTo>
                  <a:lnTo>
                    <a:pt x="7279223" y="2324099"/>
                  </a:lnTo>
                  <a:lnTo>
                    <a:pt x="7275836" y="2374899"/>
                  </a:lnTo>
                  <a:lnTo>
                    <a:pt x="7271846" y="2425699"/>
                  </a:lnTo>
                  <a:lnTo>
                    <a:pt x="7267256" y="2476499"/>
                  </a:lnTo>
                  <a:lnTo>
                    <a:pt x="7262070" y="2514599"/>
                  </a:lnTo>
                  <a:lnTo>
                    <a:pt x="7256293" y="2565399"/>
                  </a:lnTo>
                  <a:lnTo>
                    <a:pt x="7249928" y="2616199"/>
                  </a:lnTo>
                  <a:lnTo>
                    <a:pt x="7242978" y="2654299"/>
                  </a:lnTo>
                  <a:lnTo>
                    <a:pt x="7235448" y="2705099"/>
                  </a:lnTo>
                  <a:lnTo>
                    <a:pt x="7227342" y="2755899"/>
                  </a:lnTo>
                  <a:lnTo>
                    <a:pt x="7218663" y="2793999"/>
                  </a:lnTo>
                  <a:lnTo>
                    <a:pt x="7209416" y="2844799"/>
                  </a:lnTo>
                  <a:lnTo>
                    <a:pt x="7199603" y="2882899"/>
                  </a:lnTo>
                  <a:lnTo>
                    <a:pt x="7189230" y="2933699"/>
                  </a:lnTo>
                  <a:lnTo>
                    <a:pt x="7178299" y="2971799"/>
                  </a:lnTo>
                  <a:lnTo>
                    <a:pt x="7166814" y="3022599"/>
                  </a:lnTo>
                  <a:lnTo>
                    <a:pt x="7154780" y="3060699"/>
                  </a:lnTo>
                  <a:lnTo>
                    <a:pt x="7142201" y="3111499"/>
                  </a:lnTo>
                  <a:lnTo>
                    <a:pt x="7129079" y="3149599"/>
                  </a:lnTo>
                  <a:lnTo>
                    <a:pt x="7115419" y="3200399"/>
                  </a:lnTo>
                  <a:lnTo>
                    <a:pt x="7101225" y="3238499"/>
                  </a:lnTo>
                  <a:lnTo>
                    <a:pt x="7086501" y="3289299"/>
                  </a:lnTo>
                  <a:lnTo>
                    <a:pt x="7071250" y="3327399"/>
                  </a:lnTo>
                  <a:lnTo>
                    <a:pt x="7055477" y="3365499"/>
                  </a:lnTo>
                  <a:lnTo>
                    <a:pt x="7039185" y="3416299"/>
                  </a:lnTo>
                  <a:lnTo>
                    <a:pt x="7022377" y="3454399"/>
                  </a:lnTo>
                  <a:lnTo>
                    <a:pt x="7005059" y="3492499"/>
                  </a:lnTo>
                  <a:lnTo>
                    <a:pt x="6987233" y="3543299"/>
                  </a:lnTo>
                  <a:lnTo>
                    <a:pt x="6968903" y="3581399"/>
                  </a:lnTo>
                  <a:lnTo>
                    <a:pt x="6950074" y="3619499"/>
                  </a:lnTo>
                  <a:lnTo>
                    <a:pt x="6930750" y="3657599"/>
                  </a:lnTo>
                  <a:lnTo>
                    <a:pt x="6910933" y="3708399"/>
                  </a:lnTo>
                  <a:lnTo>
                    <a:pt x="6890628" y="3746499"/>
                  </a:lnTo>
                  <a:lnTo>
                    <a:pt x="6869839" y="3784599"/>
                  </a:lnTo>
                  <a:lnTo>
                    <a:pt x="6848569" y="3822699"/>
                  </a:lnTo>
                  <a:lnTo>
                    <a:pt x="6826823" y="3860799"/>
                  </a:lnTo>
                  <a:lnTo>
                    <a:pt x="6804604" y="3898899"/>
                  </a:lnTo>
                  <a:lnTo>
                    <a:pt x="6781916" y="3936999"/>
                  </a:lnTo>
                  <a:lnTo>
                    <a:pt x="6758763" y="3975099"/>
                  </a:lnTo>
                  <a:lnTo>
                    <a:pt x="6735148" y="4013199"/>
                  </a:lnTo>
                  <a:lnTo>
                    <a:pt x="6711076" y="4051299"/>
                  </a:lnTo>
                  <a:lnTo>
                    <a:pt x="6686551" y="4089399"/>
                  </a:lnTo>
                  <a:lnTo>
                    <a:pt x="6661576" y="4127499"/>
                  </a:lnTo>
                  <a:lnTo>
                    <a:pt x="6636155" y="4165599"/>
                  </a:lnTo>
                  <a:lnTo>
                    <a:pt x="6610292" y="4203699"/>
                  </a:lnTo>
                  <a:lnTo>
                    <a:pt x="6583991" y="4241799"/>
                  </a:lnTo>
                  <a:lnTo>
                    <a:pt x="6557256" y="4279899"/>
                  </a:lnTo>
                  <a:lnTo>
                    <a:pt x="6530090" y="4317999"/>
                  </a:lnTo>
                  <a:lnTo>
                    <a:pt x="6502497" y="4343399"/>
                  </a:lnTo>
                  <a:lnTo>
                    <a:pt x="6474482" y="4381499"/>
                  </a:lnTo>
                  <a:lnTo>
                    <a:pt x="6446047" y="4419599"/>
                  </a:lnTo>
                  <a:lnTo>
                    <a:pt x="6417197" y="4457699"/>
                  </a:lnTo>
                  <a:lnTo>
                    <a:pt x="6387936" y="4483099"/>
                  </a:lnTo>
                  <a:lnTo>
                    <a:pt x="6358268" y="4521199"/>
                  </a:lnTo>
                  <a:lnTo>
                    <a:pt x="6328196" y="4559299"/>
                  </a:lnTo>
                  <a:lnTo>
                    <a:pt x="6297724" y="4584699"/>
                  </a:lnTo>
                  <a:lnTo>
                    <a:pt x="6266856" y="4622799"/>
                  </a:lnTo>
                  <a:lnTo>
                    <a:pt x="6235596" y="4648199"/>
                  </a:lnTo>
                  <a:lnTo>
                    <a:pt x="6203948" y="4686299"/>
                  </a:lnTo>
                  <a:lnTo>
                    <a:pt x="6171915" y="4711699"/>
                  </a:lnTo>
                  <a:lnTo>
                    <a:pt x="6139502" y="4749799"/>
                  </a:lnTo>
                  <a:lnTo>
                    <a:pt x="6073549" y="4800599"/>
                  </a:lnTo>
                  <a:lnTo>
                    <a:pt x="6040017" y="4838699"/>
                  </a:lnTo>
                  <a:lnTo>
                    <a:pt x="5971861" y="4889499"/>
                  </a:lnTo>
                  <a:lnTo>
                    <a:pt x="5937245" y="4927599"/>
                  </a:lnTo>
                  <a:lnTo>
                    <a:pt x="5866956" y="4978399"/>
                  </a:lnTo>
                  <a:lnTo>
                    <a:pt x="5795282" y="5029199"/>
                  </a:lnTo>
                  <a:lnTo>
                    <a:pt x="5685244" y="5105399"/>
                  </a:lnTo>
                  <a:lnTo>
                    <a:pt x="5572264" y="5181599"/>
                  </a:lnTo>
                  <a:lnTo>
                    <a:pt x="5456447" y="5257799"/>
                  </a:lnTo>
                  <a:lnTo>
                    <a:pt x="5417228" y="5270499"/>
                  </a:lnTo>
                  <a:lnTo>
                    <a:pt x="5337895" y="5321299"/>
                  </a:lnTo>
                  <a:lnTo>
                    <a:pt x="5297789" y="5333999"/>
                  </a:lnTo>
                  <a:lnTo>
                    <a:pt x="5257393" y="5359399"/>
                  </a:lnTo>
                  <a:lnTo>
                    <a:pt x="5216714" y="5372099"/>
                  </a:lnTo>
                  <a:lnTo>
                    <a:pt x="5175753" y="5397499"/>
                  </a:lnTo>
                  <a:lnTo>
                    <a:pt x="5134516" y="5410199"/>
                  </a:lnTo>
                  <a:lnTo>
                    <a:pt x="5093005" y="5435599"/>
                  </a:lnTo>
                  <a:lnTo>
                    <a:pt x="5051226" y="5448299"/>
                  </a:lnTo>
                  <a:lnTo>
                    <a:pt x="5009181" y="5473699"/>
                  </a:lnTo>
                  <a:lnTo>
                    <a:pt x="4924310" y="5499099"/>
                  </a:lnTo>
                  <a:lnTo>
                    <a:pt x="4881492" y="5524499"/>
                  </a:lnTo>
                  <a:lnTo>
                    <a:pt x="4440195" y="5651499"/>
                  </a:lnTo>
                  <a:close/>
                </a:path>
                <a:path w="7287259" h="5727700">
                  <a:moveTo>
                    <a:pt x="4303505" y="5676899"/>
                  </a:moveTo>
                  <a:lnTo>
                    <a:pt x="2983467" y="5676899"/>
                  </a:lnTo>
                  <a:lnTo>
                    <a:pt x="2892134" y="5651499"/>
                  </a:lnTo>
                  <a:lnTo>
                    <a:pt x="4394839" y="5651499"/>
                  </a:lnTo>
                  <a:lnTo>
                    <a:pt x="4303505" y="5676899"/>
                  </a:lnTo>
                  <a:close/>
                </a:path>
                <a:path w="7287259" h="5727700">
                  <a:moveTo>
                    <a:pt x="4165015" y="5702299"/>
                  </a:moveTo>
                  <a:lnTo>
                    <a:pt x="3121958" y="5702299"/>
                  </a:lnTo>
                  <a:lnTo>
                    <a:pt x="3029436" y="5676899"/>
                  </a:lnTo>
                  <a:lnTo>
                    <a:pt x="4257537" y="5676899"/>
                  </a:lnTo>
                  <a:lnTo>
                    <a:pt x="4165015" y="5702299"/>
                  </a:lnTo>
                  <a:close/>
                </a:path>
                <a:path w="7287259" h="5727700">
                  <a:moveTo>
                    <a:pt x="4071739" y="5714999"/>
                  </a:moveTo>
                  <a:lnTo>
                    <a:pt x="3215234" y="5714999"/>
                  </a:lnTo>
                  <a:lnTo>
                    <a:pt x="3168503" y="5702299"/>
                  </a:lnTo>
                  <a:lnTo>
                    <a:pt x="4118469" y="5702299"/>
                  </a:lnTo>
                  <a:lnTo>
                    <a:pt x="4071739" y="5714999"/>
                  </a:lnTo>
                  <a:close/>
                </a:path>
                <a:path w="7287259" h="5727700">
                  <a:moveTo>
                    <a:pt x="3930478" y="5727699"/>
                  </a:moveTo>
                  <a:lnTo>
                    <a:pt x="3356494" y="5727699"/>
                  </a:lnTo>
                  <a:lnTo>
                    <a:pt x="3309234" y="5714999"/>
                  </a:lnTo>
                  <a:lnTo>
                    <a:pt x="3977739" y="5714999"/>
                  </a:lnTo>
                  <a:lnTo>
                    <a:pt x="3930478" y="5727699"/>
                  </a:lnTo>
                  <a:close/>
                </a:path>
              </a:pathLst>
            </a:custGeom>
            <a:solidFill>
              <a:srgbClr val="FFD0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76743" y="0"/>
              <a:ext cx="6798286" cy="549441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98447" y="1890668"/>
              <a:ext cx="1373692" cy="137369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31839" y="3747014"/>
              <a:ext cx="6635870" cy="5702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920582" y="827916"/>
              <a:ext cx="677785" cy="67778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761201" y="3974851"/>
              <a:ext cx="5269230" cy="5245100"/>
            </a:xfrm>
            <a:custGeom>
              <a:avLst/>
              <a:gdLst/>
              <a:ahLst/>
              <a:cxnLst/>
              <a:rect l="l" t="t" r="r" b="b"/>
              <a:pathLst>
                <a:path w="5269230" h="5245100">
                  <a:moveTo>
                    <a:pt x="3015182" y="12699"/>
                  </a:moveTo>
                  <a:lnTo>
                    <a:pt x="2253553" y="12699"/>
                  </a:lnTo>
                  <a:lnTo>
                    <a:pt x="2300310" y="0"/>
                  </a:lnTo>
                  <a:lnTo>
                    <a:pt x="2968424" y="0"/>
                  </a:lnTo>
                  <a:lnTo>
                    <a:pt x="3015182" y="12699"/>
                  </a:lnTo>
                  <a:close/>
                </a:path>
                <a:path w="5269230" h="5245100">
                  <a:moveTo>
                    <a:pt x="3153843" y="38099"/>
                  </a:moveTo>
                  <a:lnTo>
                    <a:pt x="2114892" y="38099"/>
                  </a:lnTo>
                  <a:lnTo>
                    <a:pt x="2207059" y="12699"/>
                  </a:lnTo>
                  <a:lnTo>
                    <a:pt x="3061676" y="12699"/>
                  </a:lnTo>
                  <a:lnTo>
                    <a:pt x="3153843" y="38099"/>
                  </a:lnTo>
                  <a:close/>
                </a:path>
                <a:path w="5269230" h="5245100">
                  <a:moveTo>
                    <a:pt x="3199501" y="5194299"/>
                  </a:moveTo>
                  <a:lnTo>
                    <a:pt x="2069234" y="5194299"/>
                  </a:lnTo>
                  <a:lnTo>
                    <a:pt x="1715151" y="5092699"/>
                  </a:lnTo>
                  <a:lnTo>
                    <a:pt x="1672400" y="5067299"/>
                  </a:lnTo>
                  <a:lnTo>
                    <a:pt x="1630010" y="5054599"/>
                  </a:lnTo>
                  <a:lnTo>
                    <a:pt x="1587988" y="5029199"/>
                  </a:lnTo>
                  <a:lnTo>
                    <a:pt x="1505075" y="5003799"/>
                  </a:lnTo>
                  <a:lnTo>
                    <a:pt x="1423724" y="4952999"/>
                  </a:lnTo>
                  <a:lnTo>
                    <a:pt x="1383651" y="4940299"/>
                  </a:lnTo>
                  <a:lnTo>
                    <a:pt x="1304751" y="4889499"/>
                  </a:lnTo>
                  <a:lnTo>
                    <a:pt x="1227560" y="4838699"/>
                  </a:lnTo>
                  <a:lnTo>
                    <a:pt x="1189624" y="4825999"/>
                  </a:lnTo>
                  <a:lnTo>
                    <a:pt x="1115109" y="4775199"/>
                  </a:lnTo>
                  <a:lnTo>
                    <a:pt x="1078544" y="4737099"/>
                  </a:lnTo>
                  <a:lnTo>
                    <a:pt x="1006837" y="4686299"/>
                  </a:lnTo>
                  <a:lnTo>
                    <a:pt x="971710" y="4660899"/>
                  </a:lnTo>
                  <a:lnTo>
                    <a:pt x="937078" y="4635499"/>
                  </a:lnTo>
                  <a:lnTo>
                    <a:pt x="902947" y="4597399"/>
                  </a:lnTo>
                  <a:lnTo>
                    <a:pt x="869325" y="4571999"/>
                  </a:lnTo>
                  <a:lnTo>
                    <a:pt x="836219" y="4546599"/>
                  </a:lnTo>
                  <a:lnTo>
                    <a:pt x="803638" y="4508499"/>
                  </a:lnTo>
                  <a:lnTo>
                    <a:pt x="771588" y="4483099"/>
                  </a:lnTo>
                  <a:lnTo>
                    <a:pt x="740077" y="4444999"/>
                  </a:lnTo>
                  <a:lnTo>
                    <a:pt x="709112" y="4419599"/>
                  </a:lnTo>
                  <a:lnTo>
                    <a:pt x="678701" y="4381499"/>
                  </a:lnTo>
                  <a:lnTo>
                    <a:pt x="648851" y="4343399"/>
                  </a:lnTo>
                  <a:lnTo>
                    <a:pt x="619570" y="4317999"/>
                  </a:lnTo>
                  <a:lnTo>
                    <a:pt x="590864" y="4279899"/>
                  </a:lnTo>
                  <a:lnTo>
                    <a:pt x="562743" y="4241799"/>
                  </a:lnTo>
                  <a:lnTo>
                    <a:pt x="535212" y="4203699"/>
                  </a:lnTo>
                  <a:lnTo>
                    <a:pt x="508280" y="4178299"/>
                  </a:lnTo>
                  <a:lnTo>
                    <a:pt x="481953" y="4140199"/>
                  </a:lnTo>
                  <a:lnTo>
                    <a:pt x="456240" y="4102099"/>
                  </a:lnTo>
                  <a:lnTo>
                    <a:pt x="431147" y="4063999"/>
                  </a:lnTo>
                  <a:lnTo>
                    <a:pt x="406683" y="4025899"/>
                  </a:lnTo>
                  <a:lnTo>
                    <a:pt x="382854" y="3987799"/>
                  </a:lnTo>
                  <a:lnTo>
                    <a:pt x="359668" y="3949699"/>
                  </a:lnTo>
                  <a:lnTo>
                    <a:pt x="337132" y="3911599"/>
                  </a:lnTo>
                  <a:lnTo>
                    <a:pt x="315255" y="3873499"/>
                  </a:lnTo>
                  <a:lnTo>
                    <a:pt x="294043" y="3822699"/>
                  </a:lnTo>
                  <a:lnTo>
                    <a:pt x="273503" y="3784599"/>
                  </a:lnTo>
                  <a:lnTo>
                    <a:pt x="253644" y="3746499"/>
                  </a:lnTo>
                  <a:lnTo>
                    <a:pt x="234473" y="3708399"/>
                  </a:lnTo>
                  <a:lnTo>
                    <a:pt x="215996" y="3657599"/>
                  </a:lnTo>
                  <a:lnTo>
                    <a:pt x="198223" y="3619499"/>
                  </a:lnTo>
                  <a:lnTo>
                    <a:pt x="181159" y="3581399"/>
                  </a:lnTo>
                  <a:lnTo>
                    <a:pt x="164812" y="3530599"/>
                  </a:lnTo>
                  <a:lnTo>
                    <a:pt x="149191" y="3492499"/>
                  </a:lnTo>
                  <a:lnTo>
                    <a:pt x="134301" y="3454399"/>
                  </a:lnTo>
                  <a:lnTo>
                    <a:pt x="120152" y="3403599"/>
                  </a:lnTo>
                  <a:lnTo>
                    <a:pt x="106749" y="3365499"/>
                  </a:lnTo>
                  <a:lnTo>
                    <a:pt x="94102" y="3314699"/>
                  </a:lnTo>
                  <a:lnTo>
                    <a:pt x="82216" y="3276599"/>
                  </a:lnTo>
                  <a:lnTo>
                    <a:pt x="71100" y="3225799"/>
                  </a:lnTo>
                  <a:lnTo>
                    <a:pt x="60761" y="3187699"/>
                  </a:lnTo>
                  <a:lnTo>
                    <a:pt x="51206" y="3136899"/>
                  </a:lnTo>
                  <a:lnTo>
                    <a:pt x="42443" y="3086099"/>
                  </a:lnTo>
                  <a:lnTo>
                    <a:pt x="34479" y="3047999"/>
                  </a:lnTo>
                  <a:lnTo>
                    <a:pt x="27322" y="2997199"/>
                  </a:lnTo>
                  <a:lnTo>
                    <a:pt x="20979" y="2946399"/>
                  </a:lnTo>
                  <a:lnTo>
                    <a:pt x="15458" y="2908299"/>
                  </a:lnTo>
                  <a:lnTo>
                    <a:pt x="10765" y="2857499"/>
                  </a:lnTo>
                  <a:lnTo>
                    <a:pt x="6909" y="2806699"/>
                  </a:lnTo>
                  <a:lnTo>
                    <a:pt x="3898" y="2755899"/>
                  </a:lnTo>
                  <a:lnTo>
                    <a:pt x="1737" y="2717799"/>
                  </a:lnTo>
                  <a:lnTo>
                    <a:pt x="435" y="2666999"/>
                  </a:lnTo>
                  <a:lnTo>
                    <a:pt x="0" y="2616199"/>
                  </a:lnTo>
                  <a:lnTo>
                    <a:pt x="435" y="2565399"/>
                  </a:lnTo>
                  <a:lnTo>
                    <a:pt x="1737" y="2514599"/>
                  </a:lnTo>
                  <a:lnTo>
                    <a:pt x="3898" y="2476499"/>
                  </a:lnTo>
                  <a:lnTo>
                    <a:pt x="6909" y="2425699"/>
                  </a:lnTo>
                  <a:lnTo>
                    <a:pt x="10765" y="2374899"/>
                  </a:lnTo>
                  <a:lnTo>
                    <a:pt x="15458" y="2324099"/>
                  </a:lnTo>
                  <a:lnTo>
                    <a:pt x="20979" y="2285999"/>
                  </a:lnTo>
                  <a:lnTo>
                    <a:pt x="27322" y="2235199"/>
                  </a:lnTo>
                  <a:lnTo>
                    <a:pt x="34479" y="2184399"/>
                  </a:lnTo>
                  <a:lnTo>
                    <a:pt x="42443" y="2146299"/>
                  </a:lnTo>
                  <a:lnTo>
                    <a:pt x="51206" y="2095499"/>
                  </a:lnTo>
                  <a:lnTo>
                    <a:pt x="60761" y="2057399"/>
                  </a:lnTo>
                  <a:lnTo>
                    <a:pt x="71100" y="2006599"/>
                  </a:lnTo>
                  <a:lnTo>
                    <a:pt x="82216" y="1955799"/>
                  </a:lnTo>
                  <a:lnTo>
                    <a:pt x="94102" y="1917699"/>
                  </a:lnTo>
                  <a:lnTo>
                    <a:pt x="106749" y="1866899"/>
                  </a:lnTo>
                  <a:lnTo>
                    <a:pt x="120152" y="1828799"/>
                  </a:lnTo>
                  <a:lnTo>
                    <a:pt x="134301" y="1790699"/>
                  </a:lnTo>
                  <a:lnTo>
                    <a:pt x="149191" y="1739899"/>
                  </a:lnTo>
                  <a:lnTo>
                    <a:pt x="164812" y="1701799"/>
                  </a:lnTo>
                  <a:lnTo>
                    <a:pt x="181159" y="1650999"/>
                  </a:lnTo>
                  <a:lnTo>
                    <a:pt x="198223" y="1612899"/>
                  </a:lnTo>
                  <a:lnTo>
                    <a:pt x="215996" y="1574799"/>
                  </a:lnTo>
                  <a:lnTo>
                    <a:pt x="234473" y="1523999"/>
                  </a:lnTo>
                  <a:lnTo>
                    <a:pt x="253644" y="1485899"/>
                  </a:lnTo>
                  <a:lnTo>
                    <a:pt x="273503" y="1447799"/>
                  </a:lnTo>
                  <a:lnTo>
                    <a:pt x="294043" y="1409699"/>
                  </a:lnTo>
                  <a:lnTo>
                    <a:pt x="315255" y="1371599"/>
                  </a:lnTo>
                  <a:lnTo>
                    <a:pt x="337132" y="1320799"/>
                  </a:lnTo>
                  <a:lnTo>
                    <a:pt x="359668" y="1282699"/>
                  </a:lnTo>
                  <a:lnTo>
                    <a:pt x="382854" y="1244599"/>
                  </a:lnTo>
                  <a:lnTo>
                    <a:pt x="406683" y="1206499"/>
                  </a:lnTo>
                  <a:lnTo>
                    <a:pt x="431147" y="1168399"/>
                  </a:lnTo>
                  <a:lnTo>
                    <a:pt x="456240" y="1130299"/>
                  </a:lnTo>
                  <a:lnTo>
                    <a:pt x="481953" y="1092199"/>
                  </a:lnTo>
                  <a:lnTo>
                    <a:pt x="508280" y="1066799"/>
                  </a:lnTo>
                  <a:lnTo>
                    <a:pt x="535212" y="1028699"/>
                  </a:lnTo>
                  <a:lnTo>
                    <a:pt x="562743" y="990599"/>
                  </a:lnTo>
                  <a:lnTo>
                    <a:pt x="590864" y="952499"/>
                  </a:lnTo>
                  <a:lnTo>
                    <a:pt x="619570" y="914399"/>
                  </a:lnTo>
                  <a:lnTo>
                    <a:pt x="648851" y="888999"/>
                  </a:lnTo>
                  <a:lnTo>
                    <a:pt x="678701" y="850899"/>
                  </a:lnTo>
                  <a:lnTo>
                    <a:pt x="709112" y="812799"/>
                  </a:lnTo>
                  <a:lnTo>
                    <a:pt x="740077" y="787399"/>
                  </a:lnTo>
                  <a:lnTo>
                    <a:pt x="771588" y="749299"/>
                  </a:lnTo>
                  <a:lnTo>
                    <a:pt x="803638" y="723899"/>
                  </a:lnTo>
                  <a:lnTo>
                    <a:pt x="836219" y="685799"/>
                  </a:lnTo>
                  <a:lnTo>
                    <a:pt x="869325" y="660399"/>
                  </a:lnTo>
                  <a:lnTo>
                    <a:pt x="902947" y="634999"/>
                  </a:lnTo>
                  <a:lnTo>
                    <a:pt x="937078" y="596899"/>
                  </a:lnTo>
                  <a:lnTo>
                    <a:pt x="971710" y="571499"/>
                  </a:lnTo>
                  <a:lnTo>
                    <a:pt x="1042451" y="520699"/>
                  </a:lnTo>
                  <a:lnTo>
                    <a:pt x="1115109" y="469899"/>
                  </a:lnTo>
                  <a:lnTo>
                    <a:pt x="1189624" y="419099"/>
                  </a:lnTo>
                  <a:lnTo>
                    <a:pt x="1265939" y="368299"/>
                  </a:lnTo>
                  <a:lnTo>
                    <a:pt x="1343991" y="317499"/>
                  </a:lnTo>
                  <a:lnTo>
                    <a:pt x="1383651" y="292099"/>
                  </a:lnTo>
                  <a:lnTo>
                    <a:pt x="1423724" y="279399"/>
                  </a:lnTo>
                  <a:lnTo>
                    <a:pt x="1464201" y="253999"/>
                  </a:lnTo>
                  <a:lnTo>
                    <a:pt x="1505075" y="241299"/>
                  </a:lnTo>
                  <a:lnTo>
                    <a:pt x="1546340" y="215899"/>
                  </a:lnTo>
                  <a:lnTo>
                    <a:pt x="1587988" y="203199"/>
                  </a:lnTo>
                  <a:lnTo>
                    <a:pt x="1630010" y="177799"/>
                  </a:lnTo>
                  <a:lnTo>
                    <a:pt x="1715151" y="152399"/>
                  </a:lnTo>
                  <a:lnTo>
                    <a:pt x="1758254" y="126999"/>
                  </a:lnTo>
                  <a:lnTo>
                    <a:pt x="2069234" y="38099"/>
                  </a:lnTo>
                  <a:lnTo>
                    <a:pt x="3199501" y="38099"/>
                  </a:lnTo>
                  <a:lnTo>
                    <a:pt x="3510480" y="126999"/>
                  </a:lnTo>
                  <a:lnTo>
                    <a:pt x="3553584" y="152399"/>
                  </a:lnTo>
                  <a:lnTo>
                    <a:pt x="3638725" y="177799"/>
                  </a:lnTo>
                  <a:lnTo>
                    <a:pt x="3680747" y="203199"/>
                  </a:lnTo>
                  <a:lnTo>
                    <a:pt x="3722394" y="215899"/>
                  </a:lnTo>
                  <a:lnTo>
                    <a:pt x="3763659" y="241299"/>
                  </a:lnTo>
                  <a:lnTo>
                    <a:pt x="3804534" y="253999"/>
                  </a:lnTo>
                  <a:lnTo>
                    <a:pt x="3845011" y="279399"/>
                  </a:lnTo>
                  <a:lnTo>
                    <a:pt x="3885083" y="292099"/>
                  </a:lnTo>
                  <a:lnTo>
                    <a:pt x="3924743" y="317499"/>
                  </a:lnTo>
                  <a:lnTo>
                    <a:pt x="4002796" y="368299"/>
                  </a:lnTo>
                  <a:lnTo>
                    <a:pt x="4079110" y="419099"/>
                  </a:lnTo>
                  <a:lnTo>
                    <a:pt x="4153626" y="469899"/>
                  </a:lnTo>
                  <a:lnTo>
                    <a:pt x="4226284" y="520699"/>
                  </a:lnTo>
                  <a:lnTo>
                    <a:pt x="4297024" y="571499"/>
                  </a:lnTo>
                  <a:lnTo>
                    <a:pt x="4331657" y="596899"/>
                  </a:lnTo>
                  <a:lnTo>
                    <a:pt x="4365788" y="634999"/>
                  </a:lnTo>
                  <a:lnTo>
                    <a:pt x="4399410" y="660399"/>
                  </a:lnTo>
                  <a:lnTo>
                    <a:pt x="4432515" y="685799"/>
                  </a:lnTo>
                  <a:lnTo>
                    <a:pt x="4465097" y="723899"/>
                  </a:lnTo>
                  <a:lnTo>
                    <a:pt x="4497147" y="749299"/>
                  </a:lnTo>
                  <a:lnTo>
                    <a:pt x="4528658" y="787399"/>
                  </a:lnTo>
                  <a:lnTo>
                    <a:pt x="4559623" y="812799"/>
                  </a:lnTo>
                  <a:lnTo>
                    <a:pt x="4590034" y="850899"/>
                  </a:lnTo>
                  <a:lnTo>
                    <a:pt x="4619884" y="888999"/>
                  </a:lnTo>
                  <a:lnTo>
                    <a:pt x="4649165" y="914399"/>
                  </a:lnTo>
                  <a:lnTo>
                    <a:pt x="4677870" y="952499"/>
                  </a:lnTo>
                  <a:lnTo>
                    <a:pt x="4705992" y="990599"/>
                  </a:lnTo>
                  <a:lnTo>
                    <a:pt x="4733523" y="1028699"/>
                  </a:lnTo>
                  <a:lnTo>
                    <a:pt x="4760455" y="1066799"/>
                  </a:lnTo>
                  <a:lnTo>
                    <a:pt x="4786782" y="1092199"/>
                  </a:lnTo>
                  <a:lnTo>
                    <a:pt x="4812495" y="1130299"/>
                  </a:lnTo>
                  <a:lnTo>
                    <a:pt x="4837587" y="1168399"/>
                  </a:lnTo>
                  <a:lnTo>
                    <a:pt x="4862052" y="1206499"/>
                  </a:lnTo>
                  <a:lnTo>
                    <a:pt x="4885881" y="1244599"/>
                  </a:lnTo>
                  <a:lnTo>
                    <a:pt x="4909067" y="1282699"/>
                  </a:lnTo>
                  <a:lnTo>
                    <a:pt x="4931602" y="1320799"/>
                  </a:lnTo>
                  <a:lnTo>
                    <a:pt x="4953480" y="1371599"/>
                  </a:lnTo>
                  <a:lnTo>
                    <a:pt x="4974692" y="1409699"/>
                  </a:lnTo>
                  <a:lnTo>
                    <a:pt x="4995231" y="1447799"/>
                  </a:lnTo>
                  <a:lnTo>
                    <a:pt x="5015090" y="1485899"/>
                  </a:lnTo>
                  <a:lnTo>
                    <a:pt x="5034262" y="1523999"/>
                  </a:lnTo>
                  <a:lnTo>
                    <a:pt x="5052738" y="1574799"/>
                  </a:lnTo>
                  <a:lnTo>
                    <a:pt x="5070512" y="1612899"/>
                  </a:lnTo>
                  <a:lnTo>
                    <a:pt x="5087576" y="1650999"/>
                  </a:lnTo>
                  <a:lnTo>
                    <a:pt x="5103922" y="1701799"/>
                  </a:lnTo>
                  <a:lnTo>
                    <a:pt x="5119544" y="1739899"/>
                  </a:lnTo>
                  <a:lnTo>
                    <a:pt x="5134433" y="1790699"/>
                  </a:lnTo>
                  <a:lnTo>
                    <a:pt x="5148583" y="1828799"/>
                  </a:lnTo>
                  <a:lnTo>
                    <a:pt x="5161985" y="1866899"/>
                  </a:lnTo>
                  <a:lnTo>
                    <a:pt x="5174633" y="1917699"/>
                  </a:lnTo>
                  <a:lnTo>
                    <a:pt x="5186519" y="1955799"/>
                  </a:lnTo>
                  <a:lnTo>
                    <a:pt x="5197635" y="2006599"/>
                  </a:lnTo>
                  <a:lnTo>
                    <a:pt x="5207974" y="2057399"/>
                  </a:lnTo>
                  <a:lnTo>
                    <a:pt x="5217529" y="2095499"/>
                  </a:lnTo>
                  <a:lnTo>
                    <a:pt x="5226292" y="2146299"/>
                  </a:lnTo>
                  <a:lnTo>
                    <a:pt x="5234256" y="2184399"/>
                  </a:lnTo>
                  <a:lnTo>
                    <a:pt x="5241413" y="2235199"/>
                  </a:lnTo>
                  <a:lnTo>
                    <a:pt x="5247756" y="2285999"/>
                  </a:lnTo>
                  <a:lnTo>
                    <a:pt x="5253277" y="2324099"/>
                  </a:lnTo>
                  <a:lnTo>
                    <a:pt x="5257969" y="2374899"/>
                  </a:lnTo>
                  <a:lnTo>
                    <a:pt x="5261825" y="2425699"/>
                  </a:lnTo>
                  <a:lnTo>
                    <a:pt x="5264837" y="2476499"/>
                  </a:lnTo>
                  <a:lnTo>
                    <a:pt x="5266998" y="2514599"/>
                  </a:lnTo>
                  <a:lnTo>
                    <a:pt x="5268299" y="2565399"/>
                  </a:lnTo>
                  <a:lnTo>
                    <a:pt x="5268735" y="2616199"/>
                  </a:lnTo>
                  <a:lnTo>
                    <a:pt x="5268299" y="2666999"/>
                  </a:lnTo>
                  <a:lnTo>
                    <a:pt x="5266998" y="2717799"/>
                  </a:lnTo>
                  <a:lnTo>
                    <a:pt x="5264837" y="2755899"/>
                  </a:lnTo>
                  <a:lnTo>
                    <a:pt x="5261825" y="2806699"/>
                  </a:lnTo>
                  <a:lnTo>
                    <a:pt x="5257969" y="2857499"/>
                  </a:lnTo>
                  <a:lnTo>
                    <a:pt x="5253277" y="2908299"/>
                  </a:lnTo>
                  <a:lnTo>
                    <a:pt x="5247756" y="2946399"/>
                  </a:lnTo>
                  <a:lnTo>
                    <a:pt x="5241413" y="2997199"/>
                  </a:lnTo>
                  <a:lnTo>
                    <a:pt x="5234256" y="3047999"/>
                  </a:lnTo>
                  <a:lnTo>
                    <a:pt x="5226292" y="3086099"/>
                  </a:lnTo>
                  <a:lnTo>
                    <a:pt x="5217529" y="3136899"/>
                  </a:lnTo>
                  <a:lnTo>
                    <a:pt x="5207974" y="3187699"/>
                  </a:lnTo>
                  <a:lnTo>
                    <a:pt x="5197635" y="3225799"/>
                  </a:lnTo>
                  <a:lnTo>
                    <a:pt x="5186519" y="3276599"/>
                  </a:lnTo>
                  <a:lnTo>
                    <a:pt x="5174633" y="3314699"/>
                  </a:lnTo>
                  <a:lnTo>
                    <a:pt x="5161985" y="3365499"/>
                  </a:lnTo>
                  <a:lnTo>
                    <a:pt x="5148583" y="3403599"/>
                  </a:lnTo>
                  <a:lnTo>
                    <a:pt x="5134433" y="3454399"/>
                  </a:lnTo>
                  <a:lnTo>
                    <a:pt x="5119544" y="3492499"/>
                  </a:lnTo>
                  <a:lnTo>
                    <a:pt x="5103922" y="3530599"/>
                  </a:lnTo>
                  <a:lnTo>
                    <a:pt x="5087576" y="3581399"/>
                  </a:lnTo>
                  <a:lnTo>
                    <a:pt x="5070512" y="3619499"/>
                  </a:lnTo>
                  <a:lnTo>
                    <a:pt x="5052738" y="3657599"/>
                  </a:lnTo>
                  <a:lnTo>
                    <a:pt x="5034262" y="3708399"/>
                  </a:lnTo>
                  <a:lnTo>
                    <a:pt x="5015090" y="3746499"/>
                  </a:lnTo>
                  <a:lnTo>
                    <a:pt x="4995231" y="3784599"/>
                  </a:lnTo>
                  <a:lnTo>
                    <a:pt x="4974692" y="3822699"/>
                  </a:lnTo>
                  <a:lnTo>
                    <a:pt x="4953480" y="3873499"/>
                  </a:lnTo>
                  <a:lnTo>
                    <a:pt x="4931602" y="3911599"/>
                  </a:lnTo>
                  <a:lnTo>
                    <a:pt x="4909067" y="3949699"/>
                  </a:lnTo>
                  <a:lnTo>
                    <a:pt x="4885881" y="3987799"/>
                  </a:lnTo>
                  <a:lnTo>
                    <a:pt x="4862052" y="4025899"/>
                  </a:lnTo>
                  <a:lnTo>
                    <a:pt x="4837587" y="4063999"/>
                  </a:lnTo>
                  <a:lnTo>
                    <a:pt x="4812495" y="4102099"/>
                  </a:lnTo>
                  <a:lnTo>
                    <a:pt x="4786782" y="4140199"/>
                  </a:lnTo>
                  <a:lnTo>
                    <a:pt x="4760455" y="4178299"/>
                  </a:lnTo>
                  <a:lnTo>
                    <a:pt x="4733523" y="4203699"/>
                  </a:lnTo>
                  <a:lnTo>
                    <a:pt x="4705992" y="4241799"/>
                  </a:lnTo>
                  <a:lnTo>
                    <a:pt x="4677870" y="4279899"/>
                  </a:lnTo>
                  <a:lnTo>
                    <a:pt x="4649165" y="4317999"/>
                  </a:lnTo>
                  <a:lnTo>
                    <a:pt x="4619884" y="4343399"/>
                  </a:lnTo>
                  <a:lnTo>
                    <a:pt x="4590034" y="4381499"/>
                  </a:lnTo>
                  <a:lnTo>
                    <a:pt x="4559623" y="4419599"/>
                  </a:lnTo>
                  <a:lnTo>
                    <a:pt x="4528658" y="4444999"/>
                  </a:lnTo>
                  <a:lnTo>
                    <a:pt x="4497147" y="4483099"/>
                  </a:lnTo>
                  <a:lnTo>
                    <a:pt x="4465097" y="4508499"/>
                  </a:lnTo>
                  <a:lnTo>
                    <a:pt x="4432515" y="4546599"/>
                  </a:lnTo>
                  <a:lnTo>
                    <a:pt x="4399410" y="4571999"/>
                  </a:lnTo>
                  <a:lnTo>
                    <a:pt x="4365788" y="4597399"/>
                  </a:lnTo>
                  <a:lnTo>
                    <a:pt x="4331657" y="4635499"/>
                  </a:lnTo>
                  <a:lnTo>
                    <a:pt x="4297024" y="4660899"/>
                  </a:lnTo>
                  <a:lnTo>
                    <a:pt x="4261897" y="4686299"/>
                  </a:lnTo>
                  <a:lnTo>
                    <a:pt x="4190191" y="4737099"/>
                  </a:lnTo>
                  <a:lnTo>
                    <a:pt x="4153626" y="4775199"/>
                  </a:lnTo>
                  <a:lnTo>
                    <a:pt x="4079110" y="4825999"/>
                  </a:lnTo>
                  <a:lnTo>
                    <a:pt x="4041174" y="4838699"/>
                  </a:lnTo>
                  <a:lnTo>
                    <a:pt x="3963983" y="4889499"/>
                  </a:lnTo>
                  <a:lnTo>
                    <a:pt x="3885083" y="4940299"/>
                  </a:lnTo>
                  <a:lnTo>
                    <a:pt x="3845011" y="4952999"/>
                  </a:lnTo>
                  <a:lnTo>
                    <a:pt x="3763659" y="5003799"/>
                  </a:lnTo>
                  <a:lnTo>
                    <a:pt x="3680747" y="5029199"/>
                  </a:lnTo>
                  <a:lnTo>
                    <a:pt x="3638725" y="5054599"/>
                  </a:lnTo>
                  <a:lnTo>
                    <a:pt x="3596334" y="5067299"/>
                  </a:lnTo>
                  <a:lnTo>
                    <a:pt x="3553584" y="5092699"/>
                  </a:lnTo>
                  <a:lnTo>
                    <a:pt x="3199501" y="5194299"/>
                  </a:lnTo>
                  <a:close/>
                </a:path>
                <a:path w="5269230" h="5245100">
                  <a:moveTo>
                    <a:pt x="3061676" y="5219699"/>
                  </a:moveTo>
                  <a:lnTo>
                    <a:pt x="2207059" y="5219699"/>
                  </a:lnTo>
                  <a:lnTo>
                    <a:pt x="2114892" y="5194299"/>
                  </a:lnTo>
                  <a:lnTo>
                    <a:pt x="3153843" y="5194299"/>
                  </a:lnTo>
                  <a:lnTo>
                    <a:pt x="3061676" y="5219699"/>
                  </a:lnTo>
                  <a:close/>
                </a:path>
                <a:path w="5269230" h="5245100">
                  <a:moveTo>
                    <a:pt x="2968424" y="5232399"/>
                  </a:moveTo>
                  <a:lnTo>
                    <a:pt x="2300310" y="5232399"/>
                  </a:lnTo>
                  <a:lnTo>
                    <a:pt x="2253553" y="5219699"/>
                  </a:lnTo>
                  <a:lnTo>
                    <a:pt x="3015182" y="5219699"/>
                  </a:lnTo>
                  <a:lnTo>
                    <a:pt x="2968424" y="5232399"/>
                  </a:lnTo>
                  <a:close/>
                </a:path>
                <a:path w="5269230" h="5245100">
                  <a:moveTo>
                    <a:pt x="2874149" y="5245099"/>
                  </a:moveTo>
                  <a:lnTo>
                    <a:pt x="2394586" y="5245099"/>
                  </a:lnTo>
                  <a:lnTo>
                    <a:pt x="2347324" y="5232399"/>
                  </a:lnTo>
                  <a:lnTo>
                    <a:pt x="2921411" y="5232399"/>
                  </a:lnTo>
                  <a:lnTo>
                    <a:pt x="2874149" y="5245099"/>
                  </a:lnTo>
                  <a:close/>
                </a:path>
              </a:pathLst>
            </a:custGeom>
            <a:solidFill>
              <a:srgbClr val="FFD0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937869" y="4141082"/>
              <a:ext cx="4915398" cy="491489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997603" y="8234561"/>
              <a:ext cx="1196290" cy="119629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470244" y="9000105"/>
              <a:ext cx="739535" cy="739536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11848" y="4025423"/>
            <a:ext cx="9529445" cy="2003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950" spc="-25" dirty="0">
                <a:solidFill>
                  <a:srgbClr val="FFFFFF"/>
                </a:solidFill>
              </a:rPr>
              <a:t>THANK</a:t>
            </a:r>
            <a:r>
              <a:rPr sz="12950" spc="-775" dirty="0">
                <a:solidFill>
                  <a:srgbClr val="FFFFFF"/>
                </a:solidFill>
              </a:rPr>
              <a:t> </a:t>
            </a:r>
            <a:r>
              <a:rPr sz="12950" spc="-434" dirty="0">
                <a:solidFill>
                  <a:srgbClr val="FFFFFF"/>
                </a:solidFill>
              </a:rPr>
              <a:t>YOU</a:t>
            </a:r>
            <a:endParaRPr sz="12950"/>
          </a:p>
        </p:txBody>
      </p:sp>
      <p:sp>
        <p:nvSpPr>
          <p:cNvPr id="14" name="object 14"/>
          <p:cNvSpPr/>
          <p:nvPr/>
        </p:nvSpPr>
        <p:spPr>
          <a:xfrm>
            <a:off x="0" y="7191470"/>
            <a:ext cx="8231505" cy="1043305"/>
          </a:xfrm>
          <a:custGeom>
            <a:avLst/>
            <a:gdLst/>
            <a:ahLst/>
            <a:cxnLst/>
            <a:rect l="l" t="t" r="r" b="b"/>
            <a:pathLst>
              <a:path w="8231505" h="1043304">
                <a:moveTo>
                  <a:pt x="7709891" y="1043091"/>
                </a:moveTo>
                <a:lnTo>
                  <a:pt x="0" y="1043091"/>
                </a:lnTo>
                <a:lnTo>
                  <a:pt x="0" y="0"/>
                </a:lnTo>
                <a:lnTo>
                  <a:pt x="7709889" y="0"/>
                </a:lnTo>
                <a:lnTo>
                  <a:pt x="7757360" y="2131"/>
                </a:lnTo>
                <a:lnTo>
                  <a:pt x="7803637" y="8402"/>
                </a:lnTo>
                <a:lnTo>
                  <a:pt x="7848536" y="18630"/>
                </a:lnTo>
                <a:lnTo>
                  <a:pt x="7891873" y="32629"/>
                </a:lnTo>
                <a:lnTo>
                  <a:pt x="7933463" y="50215"/>
                </a:lnTo>
                <a:lnTo>
                  <a:pt x="7973123" y="71206"/>
                </a:lnTo>
                <a:lnTo>
                  <a:pt x="8010668" y="95415"/>
                </a:lnTo>
                <a:lnTo>
                  <a:pt x="8045914" y="122660"/>
                </a:lnTo>
                <a:lnTo>
                  <a:pt x="8078678" y="152757"/>
                </a:lnTo>
                <a:lnTo>
                  <a:pt x="8108774" y="185520"/>
                </a:lnTo>
                <a:lnTo>
                  <a:pt x="8136019" y="220766"/>
                </a:lnTo>
                <a:lnTo>
                  <a:pt x="8160229" y="258311"/>
                </a:lnTo>
                <a:lnTo>
                  <a:pt x="8181219" y="297971"/>
                </a:lnTo>
                <a:lnTo>
                  <a:pt x="8198806" y="339561"/>
                </a:lnTo>
                <a:lnTo>
                  <a:pt x="8212805" y="382898"/>
                </a:lnTo>
                <a:lnTo>
                  <a:pt x="8223032" y="427797"/>
                </a:lnTo>
                <a:lnTo>
                  <a:pt x="8229303" y="474074"/>
                </a:lnTo>
                <a:lnTo>
                  <a:pt x="8231435" y="521545"/>
                </a:lnTo>
                <a:lnTo>
                  <a:pt x="8229303" y="569017"/>
                </a:lnTo>
                <a:lnTo>
                  <a:pt x="8223032" y="615294"/>
                </a:lnTo>
                <a:lnTo>
                  <a:pt x="8212805" y="660193"/>
                </a:lnTo>
                <a:lnTo>
                  <a:pt x="8198806" y="703529"/>
                </a:lnTo>
                <a:lnTo>
                  <a:pt x="8181219" y="745120"/>
                </a:lnTo>
                <a:lnTo>
                  <a:pt x="8160229" y="784779"/>
                </a:lnTo>
                <a:lnTo>
                  <a:pt x="8136019" y="822324"/>
                </a:lnTo>
                <a:lnTo>
                  <a:pt x="8108774" y="857571"/>
                </a:lnTo>
                <a:lnTo>
                  <a:pt x="8078678" y="890334"/>
                </a:lnTo>
                <a:lnTo>
                  <a:pt x="8045914" y="920430"/>
                </a:lnTo>
                <a:lnTo>
                  <a:pt x="8010668" y="947675"/>
                </a:lnTo>
                <a:lnTo>
                  <a:pt x="7973123" y="971885"/>
                </a:lnTo>
                <a:lnTo>
                  <a:pt x="7933463" y="992875"/>
                </a:lnTo>
                <a:lnTo>
                  <a:pt x="7891873" y="1010462"/>
                </a:lnTo>
                <a:lnTo>
                  <a:pt x="7848536" y="1024461"/>
                </a:lnTo>
                <a:lnTo>
                  <a:pt x="7803637" y="1034688"/>
                </a:lnTo>
                <a:lnTo>
                  <a:pt x="7757360" y="1040960"/>
                </a:lnTo>
                <a:lnTo>
                  <a:pt x="7709891" y="1043091"/>
                </a:lnTo>
                <a:close/>
              </a:path>
            </a:pathLst>
          </a:custGeom>
          <a:solidFill>
            <a:srgbClr val="FFD017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</TotalTime>
  <Words>956</Words>
  <Application>Microsoft Office PowerPoint</Application>
  <PresentationFormat>Custom</PresentationFormat>
  <Paragraphs>100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MT</vt:lpstr>
      <vt:lpstr>Calibri</vt:lpstr>
      <vt:lpstr>Georgia</vt:lpstr>
      <vt:lpstr>Times New Roman</vt:lpstr>
      <vt:lpstr>Trebuchet MS</vt:lpstr>
      <vt:lpstr>Office Theme</vt:lpstr>
      <vt:lpstr>ADVENTURE WORKS</vt:lpstr>
      <vt:lpstr>PROJECT  OVERVIEW</vt:lpstr>
      <vt:lpstr>               TOOLS USED</vt:lpstr>
      <vt:lpstr>Project Pipeline </vt:lpstr>
      <vt:lpstr>KPI’S USED IN DASHBOARD</vt:lpstr>
      <vt:lpstr>📊KPI’S USED IN DASHBOARD</vt:lpstr>
      <vt:lpstr>🏆Highlighted Metrics</vt:lpstr>
      <vt:lpstr>📈Visualizations</vt:lpstr>
      <vt:lpstr>📈Visualizations</vt:lpstr>
      <vt:lpstr>Actionable Insights </vt:lpstr>
      <vt:lpstr>Actionable Insights </vt:lpstr>
      <vt:lpstr>📊 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analytics project presentation final</dc:title>
  <dc:creator>Navya Sree</dc:creator>
  <cp:keywords>DAGPTdHcHis,BAFWoZqsO0E</cp:keywords>
  <cp:lastModifiedBy>Manisha Swaraj</cp:lastModifiedBy>
  <cp:revision>47</cp:revision>
  <dcterms:created xsi:type="dcterms:W3CDTF">2024-09-10T07:57:40Z</dcterms:created>
  <dcterms:modified xsi:type="dcterms:W3CDTF">2026-04-18T07:02:49Z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2024-09-01T00:00:00Z</vt:filetime>
  </property>
  <property fmtid="{D5CDD505-2E9C-101B-9397-08002B2CF9AE}" pid="3" name="Creator">
    <vt:lpwstr>Canva</vt:lpwstr>
  </property>
  <property fmtid="{D5CDD505-2E9C-101B-9397-08002B2CF9AE}" pid="4" name="LastSaved">
    <vt:filetime>2024-09-10T00:00:00Z</vt:filetime>
  </property>
  <property fmtid="{D5CDD505-2E9C-101B-9397-08002B2CF9AE}" pid="5" name="Producer">
    <vt:lpwstr>Canva</vt:lpwstr>
  </property>
</Properties>
</file>